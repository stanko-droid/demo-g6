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Hashim</a:t>
            </a:r>
          </a:p>
          <a:p/>
          <a:p>
            <a:r>
              <a:t>13 runs. OIDC-debugging.</a:t>
            </a:r>
          </a:p>
          <a:p>
            <a:r>
              <a:t>Pipeline steg för steg.</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Stanko</a:t>
            </a:r>
          </a:p>
          <a:p/>
          <a:p>
            <a:r>
              <a:t>90 tester. Integration vs unit.</a:t>
            </a:r>
          </a:p>
          <a:p>
            <a:r>
              <a:t>Normalization bug story.</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Hashim</a:t>
            </a:r>
          </a:p>
          <a:p/>
          <a:p>
            <a:r>
              <a:t>13 runs. OIDC-debugging.</a:t>
            </a:r>
          </a:p>
          <a:p>
            <a:r>
              <a:t>Pipeline steg för steg.</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Stanko</a:t>
            </a:r>
          </a:p>
          <a:p/>
          <a:p>
            <a:r>
              <a:t>90 tester. Integration vs unit.</a:t>
            </a:r>
          </a:p>
          <a:p>
            <a:r>
              <a:t>Normalization bug story.</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Hashim</a:t>
            </a:r>
          </a:p>
          <a:p/>
          <a:p>
            <a:r>
              <a:t>13 runs. OIDC-debugging.</a:t>
            </a:r>
          </a:p>
          <a:p>
            <a:r>
              <a:t>Pipeline steg för steg.</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Stanko</a:t>
            </a:r>
          </a:p>
          <a:p/>
          <a:p>
            <a:r>
              <a:t>90 tester. Integration vs unit.</a:t>
            </a:r>
          </a:p>
          <a:p>
            <a:r>
              <a:t>Normalization bug story.</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Stanko</a:t>
            </a:r>
          </a:p>
          <a:p/>
          <a:p>
            <a:r>
              <a:t>90 tester. Integration vs unit.</a:t>
            </a:r>
          </a:p>
          <a:p>
            <a:r>
              <a:t>Normalization bug story.</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Stanko</a:t>
            </a:r>
          </a:p>
          <a:p/>
          <a:p>
            <a:r>
              <a:t>90 tester. Integration vs unit.</a:t>
            </a:r>
          </a:p>
          <a:p>
            <a:r>
              <a:t>Normalization bug story.</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Stanko</a:t>
            </a:r>
          </a:p>
          <a:p/>
          <a:p>
            <a:r>
              <a:t>90 tester. Integration vs unit.</a:t>
            </a:r>
          </a:p>
          <a:p>
            <a:r>
              <a:t>Normalization bug story.</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Stanko</a:t>
            </a:r>
          </a:p>
          <a:p/>
          <a:p>
            <a:r>
              <a:t>90 tester. Integration vs unit.</a:t>
            </a:r>
          </a:p>
          <a:p>
            <a:r>
              <a:t>Normalization bug story.</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Stanko</a:t>
            </a:r>
          </a:p>
          <a:p/>
          <a:p>
            <a:r>
              <a:t>90 tester. Integration vs unit.</a:t>
            </a:r>
          </a:p>
          <a:p>
            <a:r>
              <a:t>Normalization bug story.</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Stanko</a:t>
            </a:r>
          </a:p>
          <a:p/>
          <a:p>
            <a:r>
              <a:t>90 tester. Integration vs unit.</a:t>
            </a:r>
          </a:p>
          <a:p>
            <a:r>
              <a:t>Normalization bug story.</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Stanko</a:t>
            </a:r>
          </a:p>
          <a:p/>
          <a:p>
            <a:r>
              <a:t>90 tester. Integration vs unit.</a:t>
            </a:r>
          </a:p>
          <a:p>
            <a:r>
              <a:t>Normalization bug story.</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Stanko</a:t>
            </a:r>
          </a:p>
          <a:p/>
          <a:p>
            <a:r>
              <a:t>90 tester. Integration vs unit.</a:t>
            </a:r>
          </a:p>
          <a:p>
            <a:r>
              <a:t>Normalization bug story.</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Stanko</a:t>
            </a:r>
          </a:p>
          <a:p/>
          <a:p>
            <a:r>
              <a:t>90 tester. Integration vs unit.</a:t>
            </a:r>
          </a:p>
          <a:p>
            <a:r>
              <a:t>Normalization bug story.</a:t>
            </a:r>
          </a:p>
          <a:p>
            <a:r>
              <a:t>Tidsram: 10–12 minuter.</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Talare: Team</a:t>
            </a:r>
          </a:p>
          <a:p/>
          <a:p>
            <a:r>
              <a:t>Följ manus och håll slide-text kort.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SLUT LOGG - Demo-G6 Projekt</a:t>
            </a:r>
          </a:p>
        </p:txBody>
      </p:sp>
      <p:sp>
        <p:nvSpPr>
          <p:cNvPr id="3" name="Content Placeholder 2"/>
          <p:cNvSpPr>
            <a:spLocks noGrp="1"/>
          </p:cNvSpPr>
          <p:nvPr>
            <p:ph idx="1"/>
          </p:nvPr>
        </p:nvSpPr>
        <p:spPr/>
        <p:txBody>
          <a:bodyPr wrap="square"/>
          <a:lstStyle/>
          <a:p>
            <a:r>
              <a:t>**Datum:** 4-11 februari 2026</a:t>
            </a:r>
          </a:p>
          <a:p>
            <a:pPr lvl="1"/>
            <a:r>
              <a:t>**Projekt:** Flask News Flash Application - Azure Deployment med CI/CD + Komplett Test Suite</a:t>
            </a:r>
          </a:p>
          <a:p>
            <a:pPr lvl="1"/>
            <a:r>
              <a:t>**Omfattning:** CICD Integration, Autentisering, Database Sync, Azure Deployment &amp; 90 Automatiserade Tester</a:t>
            </a:r>
          </a:p>
          <a:p>
            <a:pPr lvl="1"/>
            <a:r>
              <a:t>**Arbetade dagar:** 4-11 februari 2026 (8 dagar)</a:t>
            </a:r>
          </a:p>
          <a:p>
            <a:pPr lvl="1"/>
            <a: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PROJEKTMÅL &amp; RESULTAT</a:t>
            </a:r>
          </a:p>
        </p:txBody>
      </p:sp>
      <p:sp>
        <p:nvSpPr>
          <p:cNvPr id="3" name="Content Placeholder 2"/>
          <p:cNvSpPr>
            <a:spLocks noGrp="1"/>
          </p:cNvSpPr>
          <p:nvPr>
            <p:ph idx="1"/>
          </p:nvPr>
        </p:nvSpPr>
        <p:spPr/>
        <p:txBody>
          <a:bodyPr wrap="square"/>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**Huvudmål**</a:t>
            </a:r>
          </a:p>
        </p:txBody>
      </p:sp>
      <p:sp>
        <p:nvSpPr>
          <p:cNvPr id="3" name="Content Placeholder 2"/>
          <p:cNvSpPr>
            <a:spLocks noGrp="1"/>
          </p:cNvSpPr>
          <p:nvPr>
            <p:ph idx="1"/>
          </p:nvPr>
        </p:nvSpPr>
        <p:spPr/>
        <p:txBody>
          <a:bodyPr wrap="square"/>
          <a:lstStyle/>
          <a:p>
            <a:r>
              <a:t>✅ Implementera komplett 3-tier Flask-applikation med autentisering</a:t>
            </a:r>
          </a:p>
          <a:p>
            <a:pPr lvl="1"/>
            <a:r>
              <a:t>✅ Sätta upp CI/CD pipeline med GitHub Actions</a:t>
            </a:r>
          </a:p>
          <a:p>
            <a:pPr lvl="1"/>
            <a:r>
              <a:t>✅ Deploya till Azure Container Apps med OIDC</a:t>
            </a:r>
          </a:p>
          <a:p>
            <a:pPr lvl="1"/>
            <a:r>
              <a:t>✅ Integrera Azure SQL Database med lokal SQLite backup</a:t>
            </a:r>
          </a:p>
          <a:p>
            <a:pPr lvl="1"/>
            <a:r>
              <a:t>✅ Automatisera database migrations och admin user seeding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**Slutresultat**</a:t>
            </a:r>
          </a:p>
        </p:txBody>
      </p:sp>
      <p:sp>
        <p:nvSpPr>
          <p:cNvPr id="3" name="Content Placeholder 2"/>
          <p:cNvSpPr>
            <a:spLocks noGrp="1"/>
          </p:cNvSpPr>
          <p:nvPr>
            <p:ph idx="1"/>
          </p:nvPr>
        </p:nvSpPr>
        <p:spPr/>
        <p:txBody>
          <a:bodyPr wrap="square"/>
          <a:lstStyle/>
          <a:p>
            <a:r>
              <a:t>---</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 FULLSTÄNDIGT DEPLOYAD FLASK APP PÅ AZURE! 🎉</a:t>
            </a:r>
          </a:p>
          <a:p>
            <a:pPr>
              <a:defRPr sz="1200">
                <a:latin typeface="Courier New"/>
              </a:defRPr>
            </a:pPr>
          </a:p>
          <a:p>
            <a:pPr>
              <a:defRPr sz="1200">
                <a:latin typeface="Courier New"/>
              </a:defRPr>
            </a:pPr>
            <a:r>
              <a:t>Live URL: https://ca-news-flash.nicegrass-96f5494d.swedencentral.azurecontainerapps.io</a:t>
            </a:r>
          </a:p>
          <a:p>
            <a:pPr>
              <a:defRPr sz="1200">
                <a:latin typeface="Courier New"/>
              </a:defRPr>
            </a:pPr>
            <a:r>
              <a:t>GitHub Actions: 13 runs → FINAL SUCCESS ✅</a:t>
            </a:r>
          </a:p>
          <a:p>
            <a:pPr>
              <a:defRPr sz="1200">
                <a:latin typeface="Courier New"/>
              </a:defRPr>
            </a:pPr>
            <a:r>
              <a:t>Container Status: RUNNING (1 replica)</a:t>
            </a:r>
          </a:p>
          <a:p>
            <a:pPr>
              <a:defRPr sz="1200">
                <a:latin typeface="Courier New"/>
              </a:defRPr>
            </a:pPr>
            <a:r>
              <a:t>Database: Azure SQL + Local SQLite (synced)</a:t>
            </a:r>
          </a:p>
          <a:p>
            <a:pPr>
              <a:defRPr sz="1200">
                <a:latin typeface="Courier New"/>
              </a:defRPr>
            </a:pPr>
            <a:r>
              <a:t>Authentication: Flask-Login + Session-based + Admin CLI</a:t>
            </a:r>
          </a:p>
          <a:p>
            <a:pPr>
              <a:defRPr sz="1200">
                <a:latin typeface="Courier New"/>
              </a:defRPr>
            </a:pPr>
            <a:r>
              <a:t>Security: Talisman (OWASP headers) + Secure Cookies + Password Hashing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PROJEKTARKITEKTUR</a:t>
            </a:r>
          </a:p>
        </p:txBody>
      </p:sp>
      <p:sp>
        <p:nvSpPr>
          <p:cNvPr id="3" name="Content Placeholder 2"/>
          <p:cNvSpPr>
            <a:spLocks noGrp="1"/>
          </p:cNvSpPr>
          <p:nvPr>
            <p:ph idx="1"/>
          </p:nvPr>
        </p:nvSpPr>
        <p:spPr/>
        <p:txBody>
          <a:bodyPr wrap="square"/>
          <a:lstStyle/>
          <a:p>
            <a:r>
              <a:t>---</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graph TB</a:t>
            </a:r>
          </a:p>
          <a:p>
            <a:pPr>
              <a:defRPr sz="1200">
                <a:latin typeface="Courier New"/>
              </a:defRPr>
            </a:pPr>
            <a:r>
              <a:t>    subgraph "GitHub &amp; CI/CD"</a:t>
            </a:r>
          </a:p>
          <a:p>
            <a:pPr>
              <a:defRPr sz="1200">
                <a:latin typeface="Courier New"/>
              </a:defRPr>
            </a:pPr>
            <a:r>
              <a:t>        A[GitHub Repo&lt;br/&gt;stanko-droid/Demo-G6] --&gt;|Push to main| B[GitHub Actions&lt;br/&gt;Workflow]</a:t>
            </a:r>
          </a:p>
          <a:p>
            <a:pPr>
              <a:defRPr sz="1200">
                <a:latin typeface="Courier New"/>
              </a:defRPr>
            </a:pPr>
            <a:r>
              <a:t>        B --&gt;|OIDC Auth| C[Azure Service Principal&lt;br/&gt;github-demo-g6]</a:t>
            </a:r>
          </a:p>
          <a:p>
            <a:pPr>
              <a:defRPr sz="1200">
                <a:latin typeface="Courier New"/>
              </a:defRPr>
            </a:pPr>
            <a:r>
              <a:t>    end</a:t>
            </a:r>
          </a:p>
          <a:p>
            <a:pPr>
              <a:defRPr sz="1200">
                <a:latin typeface="Courier New"/>
              </a:defRPr>
            </a:pPr>
            <a:r>
              <a:t>    </a:t>
            </a:r>
          </a:p>
          <a:p>
            <a:pPr>
              <a:defRPr sz="1200">
                <a:latin typeface="Courier New"/>
              </a:defRPr>
            </a:pPr>
            <a:r>
              <a:t>    subgraph "Azure Infrastructure"</a:t>
            </a:r>
          </a:p>
          <a:p>
            <a:pPr>
              <a:defRPr sz="1200">
                <a:latin typeface="Courier New"/>
              </a:defRPr>
            </a:pPr>
            <a:r>
              <a:t>        C --&gt;|Contributor Role| D[Azure Subscription]</a:t>
            </a:r>
          </a:p>
          <a:p>
            <a:pPr>
              <a:defRPr sz="1200">
                <a:latin typeface="Courier New"/>
              </a:defRPr>
            </a:pPr>
            <a:r>
              <a:t>        D --&gt; E[Resource Group&lt;br/&gt;rg-news-flash]</a:t>
            </a:r>
          </a:p>
          <a:p>
            <a:pPr>
              <a:defRPr sz="1200">
                <a:latin typeface="Courier New"/>
              </a:defRPr>
            </a:pPr>
            <a:r>
              <a:t>        E --&gt; F[Container Registry&lt;br/&gt;acrnewsflashb488f5b7]</a:t>
            </a:r>
          </a:p>
          <a:p>
            <a:pPr>
              <a:defRPr sz="1200">
                <a:latin typeface="Courier New"/>
              </a:defRPr>
            </a:pPr>
            <a:r>
              <a:t>        E --&gt; G[Container App&lt;br/&gt;ca-news-flash]</a:t>
            </a:r>
          </a:p>
          <a:p>
            <a:pPr>
              <a:defRPr sz="1200">
                <a:latin typeface="Courier New"/>
              </a:defRPr>
            </a:pPr>
            <a:r>
              <a:t>        E --&gt; H[Azure SQL Database&lt;br/&gt;sql-news-flash]</a:t>
            </a:r>
          </a:p>
          <a:p>
            <a:pPr>
              <a:defRPr sz="1200">
                <a:latin typeface="Courier New"/>
              </a:defRPr>
            </a:pPr>
            <a:r>
              <a:t>        </a:t>
            </a:r>
          </a:p>
          <a:p>
            <a:pPr>
              <a:defRPr sz="1200">
                <a:latin typeface="Courier New"/>
              </a:defRPr>
            </a:pPr>
            <a:r>
              <a:t>        F --&gt;|Docker Image| G</a:t>
            </a:r>
          </a:p>
          <a:p>
            <a:pPr>
              <a:defRPr sz="1200">
                <a:latin typeface="Courier New"/>
              </a:defRPr>
            </a:pPr>
            <a:r>
              <a:t>        G --&gt;|Connection String| H</a:t>
            </a:r>
          </a:p>
          <a:p>
            <a:pPr>
              <a:defRPr sz="1200">
                <a:latin typeface="Courier New"/>
              </a:defRPr>
            </a:pPr>
            <a:r>
              <a:t>    end</a:t>
            </a:r>
          </a:p>
          <a:p>
            <a:pPr>
              <a:defRPr sz="1200">
                <a:latin typeface="Courier New"/>
              </a:defRPr>
            </a:pPr>
            <a:r>
              <a:t>    </a:t>
            </a:r>
          </a:p>
          <a:p>
            <a:pPr>
              <a:defRPr sz="1200">
                <a:latin typeface="Courier New"/>
              </a:defRPr>
            </a:pPr>
            <a:r>
              <a:t>    subgraph "Flask Application"</a:t>
            </a:r>
          </a:p>
          <a:p>
            <a:pPr>
              <a:defRPr sz="1200">
                <a:latin typeface="Courier New"/>
              </a:defRPr>
            </a:pPr>
            <a:r>
              <a:t>        G --&gt; I[entrypoint.sh]</a:t>
            </a:r>
          </a:p>
          <a:p>
            <a:pPr>
              <a:defRPr sz="1200">
                <a:latin typeface="Courier New"/>
              </a:defRPr>
            </a:pPr>
            <a:r>
              <a:t>        I --&gt; J[Database Migrations&lt;br/&gt;flask db upgrade]</a:t>
            </a:r>
          </a:p>
          <a:p>
            <a:pPr>
              <a:defRPr sz="1200">
                <a:latin typeface="Courier New"/>
              </a:defRPr>
            </a:pPr>
            <a:r>
              <a:t>        J --&gt; K[Admin Seeding&lt;br/&gt;flask create-admin]</a:t>
            </a:r>
          </a:p>
          <a:p>
            <a:pPr>
              <a:defRPr sz="1200">
                <a:latin typeface="Courier New"/>
              </a:defRPr>
            </a:pPr>
            <a:r>
              <a:t>        K --&gt; L[Gunicorn Server&lt;br/&gt;Port 5000]</a:t>
            </a:r>
          </a:p>
          <a:p>
            <a:pPr>
              <a:defRPr sz="1200">
                <a:latin typeface="Courier New"/>
              </a:defRPr>
            </a:pPr>
            <a:r>
              <a:t>        </a:t>
            </a:r>
          </a:p>
          <a:p>
            <a:pPr>
              <a:defRPr sz="1200">
                <a:latin typeface="Courier New"/>
              </a:defRPr>
            </a:pPr>
            <a:r>
              <a:t>        L --&gt; M[Presentation Layer&lt;br/&gt;Blueprints]</a:t>
            </a:r>
          </a:p>
          <a:p>
            <a:pPr>
              <a:defRPr sz="1200">
                <a:latin typeface="Courier New"/>
              </a:defRPr>
            </a:pPr>
            <a:r>
              <a:t>        M --&gt; N[Business Layer&lt;br/&gt;Services]</a:t>
            </a:r>
          </a:p>
          <a:p>
            <a:pPr>
              <a:defRPr sz="1200">
                <a:latin typeface="Courier New"/>
              </a:defRPr>
            </a:pPr>
            <a:r>
              <a:t>        N --&gt; O[Data Layer&lt;br/&gt;Repositories &amp; Models]</a:t>
            </a:r>
          </a:p>
          <a:p>
            <a:pPr>
              <a:defRPr sz="1200">
                <a:latin typeface="Courier New"/>
              </a:defRPr>
            </a:pPr>
            <a:r>
              <a:t>    end</a:t>
            </a:r>
          </a:p>
          <a:p>
            <a:pPr>
              <a:defRPr sz="1200">
                <a:latin typeface="Courier New"/>
              </a:defRPr>
            </a:pPr>
            <a:r>
              <a:t>    </a:t>
            </a:r>
          </a:p>
          <a:p>
            <a:pPr>
              <a:defRPr sz="1200">
                <a:latin typeface="Courier New"/>
              </a:defRPr>
            </a:pPr>
            <a:r>
              <a:t>    subgraph "Local Development"</a:t>
            </a:r>
          </a:p>
          <a:p>
            <a:pPr>
              <a:defRPr sz="1200">
                <a:latin typeface="Courier New"/>
              </a:defRPr>
            </a:pPr>
            <a:r>
              <a:t>        P[Local SQLite&lt;br/&gt;news_flash.db] &lt;--&gt;|One-way Sync| H</a:t>
            </a:r>
          </a:p>
          <a:p>
            <a:pPr>
              <a:defRPr sz="1200">
                <a:latin typeface="Courier New"/>
              </a:defRPr>
            </a:pPr>
            <a:r>
              <a:t>        Q[Flask Dev Server&lt;br/&gt;localhost:5000] --&gt; P</a:t>
            </a:r>
          </a:p>
          <a:p>
            <a:pPr>
              <a:defRPr sz="1200">
                <a:latin typeface="Courier New"/>
              </a:defRPr>
            </a:pPr>
            <a:r>
              <a:t>    end</a:t>
            </a:r>
          </a:p>
          <a:p>
            <a:pPr>
              <a:defRPr sz="1200">
                <a:latin typeface="Courier New"/>
              </a:defRPr>
            </a:pPr>
            <a:r>
              <a:t>    </a:t>
            </a:r>
          </a:p>
          <a:p>
            <a:pPr>
              <a:defRPr sz="1200">
                <a:latin typeface="Courier New"/>
              </a:defRPr>
            </a:pPr>
            <a:r>
              <a:t>    style A fill:#2ea043</a:t>
            </a:r>
          </a:p>
          <a:p>
            <a:pPr>
              <a:defRPr sz="1200">
                <a:latin typeface="Courier New"/>
              </a:defRPr>
            </a:pPr>
            <a:r>
              <a:t>    style G fill:#0078d4</a:t>
            </a:r>
          </a:p>
          <a:p>
            <a:pPr>
              <a:defRPr sz="1200">
                <a:latin typeface="Courier New"/>
              </a:defRPr>
            </a:pPr>
            <a:r>
              <a:t>    style L fill:#ff6b6b</a:t>
            </a:r>
          </a:p>
          <a:p>
            <a:pPr>
              <a:defRPr sz="1200">
                <a:latin typeface="Courier New"/>
              </a:defRPr>
            </a:pPr>
            <a:r>
              <a:t>    style H fill:#ffd93d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3-TIER ARKITEKTUR</a:t>
            </a:r>
          </a:p>
        </p:txBody>
      </p:sp>
      <p:sp>
        <p:nvSpPr>
          <p:cNvPr id="3" name="Content Placeholder 2"/>
          <p:cNvSpPr>
            <a:spLocks noGrp="1"/>
          </p:cNvSpPr>
          <p:nvPr>
            <p:ph idx="1"/>
          </p:nvPr>
        </p:nvSpPr>
        <p:spPr/>
        <p:txBody>
          <a:bodyPr wrap="square"/>
          <a:lstStyle/>
          <a:p>
            <a:r>
              <a:t>---</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graph LR</a:t>
            </a:r>
          </a:p>
          <a:p>
            <a:pPr>
              <a:defRPr sz="1200">
                <a:latin typeface="Courier New"/>
              </a:defRPr>
            </a:pPr>
            <a:r>
              <a:t>    subgraph "Presentation Layer"</a:t>
            </a:r>
          </a:p>
          <a:p>
            <a:pPr>
              <a:defRPr sz="1200">
                <a:latin typeface="Courier New"/>
              </a:defRPr>
            </a:pPr>
            <a:r>
              <a:t>        A1[admin_bp&lt;br/&gt;Admin Routes]</a:t>
            </a:r>
          </a:p>
          <a:p>
            <a:pPr>
              <a:defRPr sz="1200">
                <a:latin typeface="Courier New"/>
              </a:defRPr>
            </a:pPr>
            <a:r>
              <a:t>        A2[public_bp&lt;br/&gt;Public Routes]</a:t>
            </a:r>
          </a:p>
          <a:p>
            <a:pPr>
              <a:defRPr sz="1200">
                <a:latin typeface="Courier New"/>
              </a:defRPr>
            </a:pPr>
            <a:r>
              <a:t>    end</a:t>
            </a:r>
          </a:p>
          <a:p>
            <a:pPr>
              <a:defRPr sz="1200">
                <a:latin typeface="Courier New"/>
              </a:defRPr>
            </a:pPr>
            <a:r>
              <a:t>    </a:t>
            </a:r>
          </a:p>
          <a:p>
            <a:pPr>
              <a:defRPr sz="1200">
                <a:latin typeface="Courier New"/>
              </a:defRPr>
            </a:pPr>
            <a:r>
              <a:t>    subgraph "Business Layer"</a:t>
            </a:r>
          </a:p>
          <a:p>
            <a:pPr>
              <a:defRPr sz="1200">
                <a:latin typeface="Courier New"/>
              </a:defRPr>
            </a:pPr>
            <a:r>
              <a:t>        B1[AuthenticationService]</a:t>
            </a:r>
          </a:p>
          <a:p>
            <a:pPr>
              <a:defRPr sz="1200">
                <a:latin typeface="Courier New"/>
              </a:defRPr>
            </a:pPr>
            <a:r>
              <a:t>        B2[SubscriptionService]</a:t>
            </a:r>
          </a:p>
          <a:p>
            <a:pPr>
              <a:defRPr sz="1200">
                <a:latin typeface="Courier New"/>
              </a:defRPr>
            </a:pPr>
            <a:r>
              <a:t>        B3[JokeService]</a:t>
            </a:r>
          </a:p>
          <a:p>
            <a:pPr>
              <a:defRPr sz="1200">
                <a:latin typeface="Courier New"/>
              </a:defRPr>
            </a:pPr>
            <a:r>
              <a:t>    end</a:t>
            </a:r>
          </a:p>
          <a:p>
            <a:pPr>
              <a:defRPr sz="1200">
                <a:latin typeface="Courier New"/>
              </a:defRPr>
            </a:pPr>
            <a:r>
              <a:t>    </a:t>
            </a:r>
          </a:p>
          <a:p>
            <a:pPr>
              <a:defRPr sz="1200">
                <a:latin typeface="Courier New"/>
              </a:defRPr>
            </a:pPr>
            <a:r>
              <a:t>    subgraph "Data Layer"</a:t>
            </a:r>
          </a:p>
          <a:p>
            <a:pPr>
              <a:defRPr sz="1200">
                <a:latin typeface="Courier New"/>
              </a:defRPr>
            </a:pPr>
            <a:r>
              <a:t>        C1[UserRepository]</a:t>
            </a:r>
          </a:p>
          <a:p>
            <a:pPr>
              <a:defRPr sz="1200">
                <a:latin typeface="Courier New"/>
              </a:defRPr>
            </a:pPr>
            <a:r>
              <a:t>        C2[SubscriberRepository]</a:t>
            </a:r>
          </a:p>
          <a:p>
            <a:pPr>
              <a:defRPr sz="1200">
                <a:latin typeface="Courier New"/>
              </a:defRPr>
            </a:pPr>
            <a:r>
              <a:t>        C3[User Model]</a:t>
            </a:r>
          </a:p>
          <a:p>
            <a:pPr>
              <a:defRPr sz="1200">
                <a:latin typeface="Courier New"/>
              </a:defRPr>
            </a:pPr>
            <a:r>
              <a:t>        C4[Subscriber Model]</a:t>
            </a:r>
          </a:p>
          <a:p>
            <a:pPr>
              <a:defRPr sz="1200">
                <a:latin typeface="Courier New"/>
              </a:defRPr>
            </a:pPr>
            <a:r>
              <a:t>        C5[SQLAlchemy ORM]</a:t>
            </a:r>
          </a:p>
          <a:p>
            <a:pPr>
              <a:defRPr sz="1200">
                <a:latin typeface="Courier New"/>
              </a:defRPr>
            </a:pPr>
            <a:r>
              <a:t>    end</a:t>
            </a:r>
          </a:p>
          <a:p>
            <a:pPr>
              <a:defRPr sz="1200">
                <a:latin typeface="Courier New"/>
              </a:defRPr>
            </a:pPr>
            <a:r>
              <a:t>    </a:t>
            </a:r>
          </a:p>
          <a:p>
            <a:pPr>
              <a:defRPr sz="1200">
                <a:latin typeface="Courier New"/>
              </a:defRPr>
            </a:pPr>
            <a:r>
              <a:t>    A1 --&gt; B1</a:t>
            </a:r>
          </a:p>
          <a:p>
            <a:pPr>
              <a:defRPr sz="1200">
                <a:latin typeface="Courier New"/>
              </a:defRPr>
            </a:pPr>
            <a:r>
              <a:t>    A2 --&gt; B2</a:t>
            </a:r>
          </a:p>
          <a:p>
            <a:pPr>
              <a:defRPr sz="1200">
                <a:latin typeface="Courier New"/>
              </a:defRPr>
            </a:pPr>
            <a:r>
              <a:t>    A2 --&gt; B3</a:t>
            </a:r>
          </a:p>
          <a:p>
            <a:pPr>
              <a:defRPr sz="1200">
                <a:latin typeface="Courier New"/>
              </a:defRPr>
            </a:pPr>
            <a:r>
              <a:t>    </a:t>
            </a:r>
          </a:p>
          <a:p>
            <a:pPr>
              <a:defRPr sz="1200">
                <a:latin typeface="Courier New"/>
              </a:defRPr>
            </a:pPr>
            <a:r>
              <a:t>    B1 --&gt; C1</a:t>
            </a:r>
          </a:p>
          <a:p>
            <a:pPr>
              <a:defRPr sz="1200">
                <a:latin typeface="Courier New"/>
              </a:defRPr>
            </a:pPr>
            <a:r>
              <a:t>    B2 --&gt; C2</a:t>
            </a:r>
          </a:p>
          <a:p>
            <a:pPr>
              <a:defRPr sz="1200">
                <a:latin typeface="Courier New"/>
              </a:defRPr>
            </a:pPr>
            <a:r>
              <a:t>    </a:t>
            </a:r>
          </a:p>
          <a:p>
            <a:pPr>
              <a:defRPr sz="1200">
                <a:latin typeface="Courier New"/>
              </a:defRPr>
            </a:pPr>
            <a:r>
              <a:t>    C1 --&gt; C3</a:t>
            </a:r>
          </a:p>
          <a:p>
            <a:pPr>
              <a:defRPr sz="1200">
                <a:latin typeface="Courier New"/>
              </a:defRPr>
            </a:pPr>
            <a:r>
              <a:t>    C2 --&gt; C4</a:t>
            </a:r>
          </a:p>
          <a:p>
            <a:pPr>
              <a:defRPr sz="1200">
                <a:latin typeface="Courier New"/>
              </a:defRPr>
            </a:pPr>
            <a:r>
              <a:t>    </a:t>
            </a:r>
          </a:p>
          <a:p>
            <a:pPr>
              <a:defRPr sz="1200">
                <a:latin typeface="Courier New"/>
              </a:defRPr>
            </a:pPr>
            <a:r>
              <a:t>    C3 --&gt; C5</a:t>
            </a:r>
          </a:p>
          <a:p>
            <a:pPr>
              <a:defRPr sz="1200">
                <a:latin typeface="Courier New"/>
              </a:defRPr>
            </a:pPr>
            <a:r>
              <a:t>    C4 --&gt; C5</a:t>
            </a:r>
          </a:p>
          <a:p>
            <a:pPr>
              <a:defRPr sz="1200">
                <a:latin typeface="Courier New"/>
              </a:defRPr>
            </a:pPr>
            <a:r>
              <a:t>    </a:t>
            </a:r>
          </a:p>
          <a:p>
            <a:pPr>
              <a:defRPr sz="1200">
                <a:latin typeface="Courier New"/>
              </a:defRPr>
            </a:pPr>
            <a:r>
              <a:t>    C5 --&gt; D[(Azure SQL&lt;br/&gt;SQLite)]</a:t>
            </a:r>
          </a:p>
          <a:p>
            <a:pPr>
              <a:defRPr sz="1200">
                <a:latin typeface="Courier New"/>
              </a:defRPr>
            </a:pPr>
            <a:r>
              <a:t>    </a:t>
            </a:r>
          </a:p>
          <a:p>
            <a:pPr>
              <a:defRPr sz="1200">
                <a:latin typeface="Courier New"/>
              </a:defRPr>
            </a:pPr>
            <a:r>
              <a:t>    style A1 fill:#e3f2fd</a:t>
            </a:r>
          </a:p>
          <a:p>
            <a:pPr>
              <a:defRPr sz="1200">
                <a:latin typeface="Courier New"/>
              </a:defRPr>
            </a:pPr>
            <a:r>
              <a:t>    style B1 fill:#fff9c4</a:t>
            </a:r>
          </a:p>
          <a:p>
            <a:pPr>
              <a:defRPr sz="1200">
                <a:latin typeface="Courier New"/>
              </a:defRPr>
            </a:pPr>
            <a:r>
              <a:t>    style C1 fill:#f1f8e9</a:t>
            </a:r>
          </a:p>
          <a:p>
            <a:pPr>
              <a:defRPr sz="1200">
                <a:latin typeface="Courier New"/>
              </a:defRPr>
            </a:pPr>
            <a:r>
              <a:t>    style D fill:#fce4ec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AUTENTISERINGSFLÖDE</a:t>
            </a:r>
          </a:p>
        </p:txBody>
      </p:sp>
      <p:sp>
        <p:nvSpPr>
          <p:cNvPr id="3" name="Content Placeholder 2"/>
          <p:cNvSpPr>
            <a:spLocks noGrp="1"/>
          </p:cNvSpPr>
          <p:nvPr>
            <p:ph idx="1"/>
          </p:nvPr>
        </p:nvSpPr>
        <p:spPr/>
        <p:txBody>
          <a:bodyPr wrap="square"/>
          <a:lstStyle/>
          <a:p>
            <a:r>
              <a:t>---</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sequenceDiagram</a:t>
            </a:r>
          </a:p>
          <a:p>
            <a:pPr>
              <a:defRPr sz="1200">
                <a:latin typeface="Courier New"/>
              </a:defRPr>
            </a:pPr>
            <a:r>
              <a:t>    participant U as User</a:t>
            </a:r>
          </a:p>
          <a:p>
            <a:pPr>
              <a:defRPr sz="1200">
                <a:latin typeface="Courier New"/>
              </a:defRPr>
            </a:pPr>
            <a:r>
              <a:t>    participant B as Browser</a:t>
            </a:r>
          </a:p>
          <a:p>
            <a:pPr>
              <a:defRPr sz="1200">
                <a:latin typeface="Courier New"/>
              </a:defRPr>
            </a:pPr>
            <a:r>
              <a:t>    participant F as Flask App</a:t>
            </a:r>
          </a:p>
          <a:p>
            <a:pPr>
              <a:defRPr sz="1200">
                <a:latin typeface="Courier New"/>
              </a:defRPr>
            </a:pPr>
            <a:r>
              <a:t>    participant FL as Flask-Login</a:t>
            </a:r>
          </a:p>
          <a:p>
            <a:pPr>
              <a:defRPr sz="1200">
                <a:latin typeface="Courier New"/>
              </a:defRPr>
            </a:pPr>
            <a:r>
              <a:t>    participant DB as Database</a:t>
            </a:r>
          </a:p>
          <a:p>
            <a:pPr>
              <a:defRPr sz="1200">
                <a:latin typeface="Courier New"/>
              </a:defRPr>
            </a:pPr>
            <a:r>
              <a:t>    participant S as Session</a:t>
            </a:r>
          </a:p>
          <a:p>
            <a:pPr>
              <a:defRPr sz="1200">
                <a:latin typeface="Courier New"/>
              </a:defRPr>
            </a:pPr>
            <a:r>
              <a:t>    </a:t>
            </a:r>
          </a:p>
          <a:p>
            <a:pPr>
              <a:defRPr sz="1200">
                <a:latin typeface="Courier New"/>
              </a:defRPr>
            </a:pPr>
            <a:r>
              <a:t>    U-&gt;&gt;B: Navigate to /admin/login</a:t>
            </a:r>
          </a:p>
          <a:p>
            <a:pPr>
              <a:defRPr sz="1200">
                <a:latin typeface="Courier New"/>
              </a:defRPr>
            </a:pPr>
            <a:r>
              <a:t>    B-&gt;&gt;F: GET /admin/login</a:t>
            </a:r>
          </a:p>
          <a:p>
            <a:pPr>
              <a:defRPr sz="1200">
                <a:latin typeface="Courier New"/>
              </a:defRPr>
            </a:pPr>
            <a:r>
              <a:t>    F-&gt;&gt;B: Return login form</a:t>
            </a:r>
          </a:p>
          <a:p>
            <a:pPr>
              <a:defRPr sz="1200">
                <a:latin typeface="Courier New"/>
              </a:defRPr>
            </a:pPr>
            <a:r>
              <a:t>    </a:t>
            </a:r>
          </a:p>
          <a:p>
            <a:pPr>
              <a:defRPr sz="1200">
                <a:latin typeface="Courier New"/>
              </a:defRPr>
            </a:pPr>
            <a:r>
              <a:t>    U-&gt;&gt;B: Enter credentials</a:t>
            </a:r>
          </a:p>
          <a:p>
            <a:pPr>
              <a:defRPr sz="1200">
                <a:latin typeface="Courier New"/>
              </a:defRPr>
            </a:pPr>
            <a:r>
              <a:t>    B-&gt;&gt;F: POST /admin/login</a:t>
            </a:r>
          </a:p>
          <a:p>
            <a:pPr>
              <a:defRPr sz="1200">
                <a:latin typeface="Courier New"/>
              </a:defRPr>
            </a:pPr>
            <a:r>
              <a:t>    F-&gt;&gt;FL: login_user(user)</a:t>
            </a:r>
          </a:p>
          <a:p>
            <a:pPr>
              <a:defRPr sz="1200">
                <a:latin typeface="Courier New"/>
              </a:defRPr>
            </a:pPr>
            <a:r>
              <a:t>    FL-&gt;&gt;S: Create session</a:t>
            </a:r>
          </a:p>
          <a:p>
            <a:pPr>
              <a:defRPr sz="1200">
                <a:latin typeface="Courier New"/>
              </a:defRPr>
            </a:pPr>
            <a:r>
              <a:t>    S-&gt;&gt;B: Set session cookie</a:t>
            </a:r>
          </a:p>
          <a:p>
            <a:pPr>
              <a:defRPr sz="1200">
                <a:latin typeface="Courier New"/>
              </a:defRPr>
            </a:pPr>
            <a:r>
              <a:t>    B-&gt;&gt;U: Redirect to /admin/dashboard</a:t>
            </a:r>
          </a:p>
          <a:p>
            <a:pPr>
              <a:defRPr sz="1200">
                <a:latin typeface="Courier New"/>
              </a:defRPr>
            </a:pPr>
            <a:r>
              <a:t>    </a:t>
            </a:r>
          </a:p>
          <a:p>
            <a:pPr>
              <a:defRPr sz="1200">
                <a:latin typeface="Courier New"/>
              </a:defRPr>
            </a:pPr>
            <a:r>
              <a:t>    U-&gt;&gt;B: Navigate to /admin/dashboard</a:t>
            </a:r>
          </a:p>
          <a:p>
            <a:pPr>
              <a:defRPr sz="1200">
                <a:latin typeface="Courier New"/>
              </a:defRPr>
            </a:pPr>
            <a:r>
              <a:t>    B-&gt;&gt;F: GET /admin/dashboard&lt;br/&gt;@login_required</a:t>
            </a:r>
          </a:p>
          <a:p>
            <a:pPr>
              <a:defRPr sz="1200">
                <a:latin typeface="Courier New"/>
              </a:defRPr>
            </a:pPr>
            <a:r>
              <a:t>    F-&gt;&gt;FL: Check session</a:t>
            </a:r>
          </a:p>
          <a:p>
            <a:pPr>
              <a:defRPr sz="1200">
                <a:latin typeface="Courier New"/>
              </a:defRPr>
            </a:pPr>
            <a:r>
              <a:t>    FL-&gt;&gt;DB: Load user from session</a:t>
            </a:r>
          </a:p>
          <a:p>
            <a:pPr>
              <a:defRPr sz="1200">
                <a:latin typeface="Courier New"/>
              </a:defRPr>
            </a:pPr>
            <a:r>
              <a:t>    DB-&gt;&gt;FL: Return user object</a:t>
            </a:r>
          </a:p>
          <a:p>
            <a:pPr>
              <a:defRPr sz="1200">
                <a:latin typeface="Courier New"/>
              </a:defRPr>
            </a:pPr>
            <a:r>
              <a:t>    FL-&gt;&gt;F: User authenticated ✅</a:t>
            </a:r>
          </a:p>
          <a:p>
            <a:pPr>
              <a:defRPr sz="1200">
                <a:latin typeface="Courier New"/>
              </a:defRPr>
            </a:pPr>
            <a:r>
              <a:t>    F-&gt;&gt;B: Return dashboard</a:t>
            </a:r>
          </a:p>
          <a:p>
            <a:pPr>
              <a:defRPr sz="1200">
                <a:latin typeface="Courier New"/>
              </a:defRPr>
            </a:pPr>
            <a:r>
              <a:t>    </a:t>
            </a:r>
          </a:p>
          <a:p>
            <a:pPr>
              <a:defRPr sz="1200">
                <a:latin typeface="Courier New"/>
              </a:defRPr>
            </a:pPr>
            <a:r>
              <a:t>    U-&gt;&gt;B: Click logout</a:t>
            </a:r>
          </a:p>
          <a:p>
            <a:pPr>
              <a:defRPr sz="1200">
                <a:latin typeface="Courier New"/>
              </a:defRPr>
            </a:pPr>
            <a:r>
              <a:t>    B-&gt;&gt;F: GET /admin/logout</a:t>
            </a:r>
          </a:p>
          <a:p>
            <a:pPr>
              <a:defRPr sz="1200">
                <a:latin typeface="Courier New"/>
              </a:defRPr>
            </a:pPr>
            <a:r>
              <a:t>    F-&gt;&gt;FL: logout_user()</a:t>
            </a:r>
          </a:p>
          <a:p>
            <a:pPr>
              <a:defRPr sz="1200">
                <a:latin typeface="Courier New"/>
              </a:defRPr>
            </a:pPr>
            <a:r>
              <a:t>    FL-&gt;&gt;S: Destroy session</a:t>
            </a:r>
          </a:p>
          <a:p>
            <a:pPr>
              <a:defRPr sz="1200">
                <a:latin typeface="Courier New"/>
              </a:defRPr>
            </a:pPr>
            <a:r>
              <a:t>    S-&gt;&gt;B: Clear cookie</a:t>
            </a:r>
          </a:p>
          <a:p>
            <a:pPr>
              <a:defRPr sz="1200">
                <a:latin typeface="Courier New"/>
              </a:defRPr>
            </a:pPr>
            <a:r>
              <a:t>    B-&gt;&gt;U: Redirect to home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CI/CD PIPELINE</a:t>
            </a:r>
          </a:p>
        </p:txBody>
      </p:sp>
      <p:sp>
        <p:nvSpPr>
          <p:cNvPr id="3" name="Content Placeholder 2"/>
          <p:cNvSpPr>
            <a:spLocks noGrp="1"/>
          </p:cNvSpPr>
          <p:nvPr>
            <p:ph idx="1"/>
          </p:nvPr>
        </p:nvSpPr>
        <p:spPr/>
        <p:txBody>
          <a:bodyPr wrap="square"/>
          <a:lstStyle/>
          <a:p>
            <a:r>
              <a:t>---</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graph TB</a:t>
            </a:r>
          </a:p>
          <a:p>
            <a:pPr>
              <a:defRPr sz="1200">
                <a:latin typeface="Courier New"/>
              </a:defRPr>
            </a:pPr>
            <a:r>
              <a:t>    A[Developer Push&lt;br/&gt;to main branch] --&gt; B{Trigger Condition}</a:t>
            </a:r>
          </a:p>
          <a:p>
            <a:pPr>
              <a:defRPr sz="1200">
                <a:latin typeface="Courier New"/>
              </a:defRPr>
            </a:pPr>
            <a:r>
              <a:t>    B --&gt;|application/**&lt;br/&gt;changed| C[GitHub Actions&lt;br/&gt;Workflow Start]</a:t>
            </a:r>
          </a:p>
          <a:p>
            <a:pPr>
              <a:defRPr sz="1200">
                <a:latin typeface="Courier New"/>
              </a:defRPr>
            </a:pPr>
            <a:r>
              <a:t>    B --&gt;|No changes| X[Skip]</a:t>
            </a:r>
          </a:p>
          <a:p>
            <a:pPr>
              <a:defRPr sz="1200">
                <a:latin typeface="Courier New"/>
              </a:defRPr>
            </a:pPr>
            <a:r>
              <a:t>    </a:t>
            </a:r>
          </a:p>
          <a:p>
            <a:pPr>
              <a:defRPr sz="1200">
                <a:latin typeface="Courier New"/>
              </a:defRPr>
            </a:pPr>
            <a:r>
              <a:t>    C --&gt; D[Checkout Code&lt;br/&gt;actions/checkout@v4]</a:t>
            </a:r>
          </a:p>
          <a:p>
            <a:pPr>
              <a:defRPr sz="1200">
                <a:latin typeface="Courier New"/>
              </a:defRPr>
            </a:pPr>
            <a:r>
              <a:t>    D --&gt; E[Azure Login&lt;br/&gt;OIDC Federated Credentials]</a:t>
            </a:r>
          </a:p>
          <a:p>
            <a:pPr>
              <a:defRPr sz="1200">
                <a:latin typeface="Courier New"/>
              </a:defRPr>
            </a:pPr>
            <a:r>
              <a:t>    </a:t>
            </a:r>
          </a:p>
          <a:p>
            <a:pPr>
              <a:defRPr sz="1200">
                <a:latin typeface="Courier New"/>
              </a:defRPr>
            </a:pPr>
            <a:r>
              <a:t>    E --&gt; F{Authentication}</a:t>
            </a:r>
          </a:p>
          <a:p>
            <a:pPr>
              <a:defRPr sz="1200">
                <a:latin typeface="Courier New"/>
              </a:defRPr>
            </a:pPr>
            <a:r>
              <a:t>    F --&gt;|Success| G[Set Image Tag&lt;br/&gt;Git SHA 7 chars]</a:t>
            </a:r>
          </a:p>
          <a:p>
            <a:pPr>
              <a:defRPr sz="1200">
                <a:latin typeface="Courier New"/>
              </a:defRPr>
            </a:pPr>
            <a:r>
              <a:t>    F --&gt;|Fail| Z[❌ FAIL]</a:t>
            </a:r>
          </a:p>
          <a:p>
            <a:pPr>
              <a:defRPr sz="1200">
                <a:latin typeface="Courier New"/>
              </a:defRPr>
            </a:pPr>
            <a:r>
              <a:t>    </a:t>
            </a:r>
          </a:p>
          <a:p>
            <a:pPr>
              <a:defRPr sz="1200">
                <a:latin typeface="Courier New"/>
              </a:defRPr>
            </a:pPr>
            <a:r>
              <a:t>    G --&gt; H[Build Docker Image&lt;br/&gt;az acr build]</a:t>
            </a:r>
          </a:p>
          <a:p>
            <a:pPr>
              <a:defRPr sz="1200">
                <a:latin typeface="Courier New"/>
              </a:defRPr>
            </a:pPr>
            <a:r>
              <a:t>    H --&gt; I{Build Success?}</a:t>
            </a:r>
          </a:p>
          <a:p>
            <a:pPr>
              <a:defRPr sz="1200">
                <a:latin typeface="Courier New"/>
              </a:defRPr>
            </a:pPr>
            <a:r>
              <a:t>    I --&gt;|Yes| J[Push to ACR&lt;br/&gt;acrnewsflashb488f5b7]</a:t>
            </a:r>
          </a:p>
          <a:p>
            <a:pPr>
              <a:defRPr sz="1200">
                <a:latin typeface="Courier New"/>
              </a:defRPr>
            </a:pPr>
            <a:r>
              <a:t>    I --&gt;|No| Z</a:t>
            </a:r>
          </a:p>
          <a:p>
            <a:pPr>
              <a:defRPr sz="1200">
                <a:latin typeface="Courier New"/>
              </a:defRPr>
            </a:pPr>
            <a:r>
              <a:t>    </a:t>
            </a:r>
          </a:p>
          <a:p>
            <a:pPr>
              <a:defRPr sz="1200">
                <a:latin typeface="Courier New"/>
              </a:defRPr>
            </a:pPr>
            <a:r>
              <a:t>    J --&gt; K[Update Container App&lt;br/&gt;az containerapp update]</a:t>
            </a:r>
          </a:p>
          <a:p>
            <a:pPr>
              <a:defRPr sz="1200">
                <a:latin typeface="Courier New"/>
              </a:defRPr>
            </a:pPr>
            <a:r>
              <a:t>    K --&gt; L[Set New Image]</a:t>
            </a:r>
          </a:p>
          <a:p>
            <a:pPr>
              <a:defRPr sz="1200">
                <a:latin typeface="Courier New"/>
              </a:defRPr>
            </a:pPr>
            <a:r>
              <a:t>    L --&gt; M[Container App Restart]</a:t>
            </a:r>
          </a:p>
          <a:p>
            <a:pPr>
              <a:defRPr sz="1200">
                <a:latin typeface="Courier New"/>
              </a:defRPr>
            </a:pPr>
            <a:r>
              <a:t>    </a:t>
            </a:r>
          </a:p>
          <a:p>
            <a:pPr>
              <a:defRPr sz="1200">
                <a:latin typeface="Courier New"/>
              </a:defRPr>
            </a:pPr>
            <a:r>
              <a:t>    M --&gt; N[entrypoint.sh&lt;br/&gt;Phase 1: Migrations]</a:t>
            </a:r>
          </a:p>
          <a:p>
            <a:pPr>
              <a:defRPr sz="1200">
                <a:latin typeface="Courier New"/>
              </a:defRPr>
            </a:pPr>
            <a:r>
              <a:t>    N --&gt; O[entrypoint.sh&lt;br/&gt;Phase 2: Admin Seed]</a:t>
            </a:r>
          </a:p>
          <a:p>
            <a:pPr>
              <a:defRPr sz="1200">
                <a:latin typeface="Courier New"/>
              </a:defRPr>
            </a:pPr>
            <a:r>
              <a:t>    O --&gt; P[entrypoint.sh&lt;br/&gt;Phase 3: Gunicorn]</a:t>
            </a:r>
          </a:p>
          <a:p>
            <a:pPr>
              <a:defRPr sz="1200">
                <a:latin typeface="Courier New"/>
              </a:defRPr>
            </a:pPr>
            <a:r>
              <a:t>    </a:t>
            </a:r>
          </a:p>
          <a:p>
            <a:pPr>
              <a:defRPr sz="1200">
                <a:latin typeface="Courier New"/>
              </a:defRPr>
            </a:pPr>
            <a:r>
              <a:t>    P --&gt; Q{Container Running?}</a:t>
            </a:r>
          </a:p>
          <a:p>
            <a:pPr>
              <a:defRPr sz="1200">
                <a:latin typeface="Courier New"/>
              </a:defRPr>
            </a:pPr>
            <a:r>
              <a:t>    Q --&gt;|Yes| R[✅ DEPLOYMENT SUCCESS]</a:t>
            </a:r>
          </a:p>
          <a:p>
            <a:pPr>
              <a:defRPr sz="1200">
                <a:latin typeface="Courier New"/>
              </a:defRPr>
            </a:pPr>
            <a:r>
              <a:t>    Q --&gt;|No| Z</a:t>
            </a:r>
          </a:p>
          <a:p>
            <a:pPr>
              <a:defRPr sz="1200">
                <a:latin typeface="Courier New"/>
              </a:defRPr>
            </a:pPr>
            <a:r>
              <a:t>    </a:t>
            </a:r>
          </a:p>
          <a:p>
            <a:pPr>
              <a:defRPr sz="1200">
                <a:latin typeface="Courier New"/>
              </a:defRPr>
            </a:pPr>
            <a:r>
              <a:t>    style R fill:#2ea043</a:t>
            </a:r>
          </a:p>
          <a:p>
            <a:pPr>
              <a:defRPr sz="1200">
                <a:latin typeface="Courier New"/>
              </a:defRPr>
            </a:pPr>
            <a:r>
              <a:t>    style Z fill:#d73a49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februari 2026 - KOMPLETT TEST SUITE** 🧪</a:t>
            </a:r>
          </a:p>
        </p:txBody>
      </p:sp>
      <p:sp>
        <p:nvSpPr>
          <p:cNvPr id="3" name="Content Placeholder 2"/>
          <p:cNvSpPr>
            <a:spLocks noGrp="1"/>
          </p:cNvSpPr>
          <p:nvPr>
            <p:ph idx="1"/>
          </p:nvPr>
        </p:nvSpPr>
        <p:spPr/>
        <p:txBody>
          <a:bodyPr wrap="square"/>
          <a:lstStyle/>
          <a:p>
            <a:r>
              <a:t>#### **Testing Sprint (8 övningar)**</a:t>
            </a:r>
          </a:p>
          <a:p>
            <a:pPr lvl="1"/>
            <a:r>
              <a:t>**Arbete:**</a:t>
            </a:r>
          </a:p>
          <a:p>
            <a:pPr lvl="1"/>
            <a:r>
              <a:t>✅ Exercise 1: Pytest setup + 4 smoke tests</a:t>
            </a:r>
          </a:p>
          <a:p>
            <a:pPr lvl="1"/>
            <a:r>
              <a:t>✅ Exercise 2: Routes &amp; templates + 10 route tests</a:t>
            </a:r>
          </a:p>
          <a:p>
            <a:pPr lvl="1"/>
            <a:r>
              <a:t>✅ Exercise 3: Business layer + 19 subscription service tests</a:t>
            </a:r>
          </a:p>
          <a:p>
            <a:pPr lvl="1"/>
            <a:r>
              <a:t>✅ Exercise 4: Data layer + 14 repository tests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Fixture exempel - Testisolering</a:t>
            </a:r>
          </a:p>
        </p:txBody>
      </p:sp>
      <p:sp>
        <p:nvSpPr>
          <p:cNvPr id="3" name="Content Placeholder 2"/>
          <p:cNvSpPr>
            <a:spLocks noGrp="1"/>
          </p:cNvSpPr>
          <p:nvPr>
            <p:ph idx="1"/>
          </p:nvPr>
        </p:nvSpPr>
        <p:spPr/>
        <p:txBody>
          <a:bodyPr wrap="square"/>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Integration test exempel</a:t>
            </a:r>
          </a:p>
        </p:txBody>
      </p:sp>
      <p:sp>
        <p:nvSpPr>
          <p:cNvPr id="3" name="Content Placeholder 2"/>
          <p:cNvSpPr>
            <a:spLocks noGrp="1"/>
          </p:cNvSpPr>
          <p:nvPr>
            <p:ph idx="1"/>
          </p:nvPr>
        </p:nvSpPr>
        <p:spPr/>
        <p:txBody>
          <a:bodyPr wrap="square"/>
          <a:lstStyle/>
          <a:p>
            <a:r>
              <a:t>**Lärdomar:**</a:t>
            </a:r>
          </a:p>
          <a:p>
            <a:pPr lvl="1"/>
            <a:r>
              <a:t>Integrationstester fångar buggar som enhetstester missar</a:t>
            </a:r>
          </a:p>
          <a:p>
            <a:pPr lvl="1"/>
            <a:r>
              <a:t>Testisolering är kritiskt (in-memory DB + fixtures)</a:t>
            </a:r>
          </a:p>
          <a:p>
            <a:pPr lvl="1"/>
            <a:r>
              <a:t>Säkerhet: testa negative cases (vad som INTE ska hända)</a:t>
            </a:r>
          </a:p>
          <a:p>
            <a:pPr lvl="1"/>
            <a:r>
              <a:t>UX &gt; HTTP-standarder (302 redirect bättre än 401)</a:t>
            </a:r>
          </a:p>
          <a:p>
            <a:pPr lvl="1"/>
            <a:r>
              <a:t>CSRF testas i produktion, inte i unit tests</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@pytest.fixture</a:t>
            </a:r>
          </a:p>
          <a:p>
            <a:pPr>
              <a:defRPr sz="1200">
                <a:latin typeface="Courier New"/>
              </a:defRPr>
            </a:pPr>
            <a:r>
              <a:t>def app():</a:t>
            </a:r>
          </a:p>
          <a:p>
            <a:pPr>
              <a:defRPr sz="1200">
                <a:latin typeface="Courier New"/>
              </a:defRPr>
            </a:pPr>
            <a:r>
              <a:t>    app = create_app("testing")</a:t>
            </a:r>
          </a:p>
          <a:p>
            <a:pPr>
              <a:defRPr sz="1200">
                <a:latin typeface="Courier New"/>
              </a:defRPr>
            </a:pPr>
            <a:r>
              <a:t>    with app.app_context():</a:t>
            </a:r>
          </a:p>
          <a:p>
            <a:pPr>
              <a:defRPr sz="1200">
                <a:latin typeface="Courier New"/>
              </a:defRPr>
            </a:pPr>
            <a:r>
              <a:t>        _db.create_all()   # Tom databas</a:t>
            </a:r>
          </a:p>
          <a:p>
            <a:pPr>
              <a:defRPr sz="1200">
                <a:latin typeface="Courier New"/>
              </a:defRPr>
            </a:pPr>
            <a:r>
              <a:t>        yield app          # Testet körs</a:t>
            </a:r>
          </a:p>
          <a:p>
            <a:pPr>
              <a:defRPr sz="1200">
                <a:latin typeface="Courier New"/>
              </a:defRPr>
            </a:pPr>
            <a:r>
              <a:t>        _db.drop_all()     # Rensa allt</a:t>
            </a:r>
          </a:p>
          <a:p>
            <a:pPr>
              <a:defRPr sz="1200">
                <a:latin typeface="Courier New"/>
              </a:defRPr>
            </a:pPr>
          </a:p>
          <a:p>
            <a:pPr>
              <a:defRPr sz="1200">
                <a:latin typeface="Courier New"/>
              </a:defRPr>
            </a:pPr>
            <a:r>
              <a:t>def test_email_normalized_in_database(app, client):</a:t>
            </a:r>
          </a:p>
          <a:p>
            <a:pPr>
              <a:defRPr sz="1200">
                <a:latin typeface="Courier New"/>
              </a:defRPr>
            </a:pPr>
            <a:r>
              <a:t>    client.post("/subscribe/confirm", data={</a:t>
            </a:r>
          </a:p>
          <a:p>
            <a:pPr>
              <a:defRPr sz="1200">
                <a:latin typeface="Courier New"/>
              </a:defRPr>
            </a:pPr>
            <a:r>
              <a:t>        "email": "TEST@EXAMPLE.COM",</a:t>
            </a:r>
          </a:p>
          <a:p>
            <a:pPr>
              <a:defRPr sz="1200">
                <a:latin typeface="Courier New"/>
              </a:defRPr>
            </a:pPr>
            <a:r>
              <a:t>    })</a:t>
            </a:r>
          </a:p>
          <a:p>
            <a:pPr>
              <a:defRPr sz="1200">
                <a:latin typeface="Courier New"/>
              </a:defRPr>
            </a:pPr>
            <a:r>
              <a:t>    subscriber = Subscriber.query.first()</a:t>
            </a:r>
          </a:p>
          <a:p>
            <a:pPr>
              <a:defRPr sz="1200">
                <a:latin typeface="Courier New"/>
              </a:defRPr>
            </a:pPr>
            <a:r>
              <a:t>    assert subscriber.email == "test@example.com"  #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DAGLIG ARBETSLOGG</a:t>
            </a:r>
          </a:p>
        </p:txBody>
      </p:sp>
      <p:sp>
        <p:nvSpPr>
          <p:cNvPr id="3" name="Content Placeholder 2"/>
          <p:cNvSpPr>
            <a:spLocks noGrp="1"/>
          </p:cNvSpPr>
          <p:nvPr>
            <p:ph idx="1"/>
          </p:nvPr>
        </p:nvSpPr>
        <p:spPr/>
        <p:txBody>
          <a:bodyPr wrap="square"/>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februari 2026 - CICD Integration &amp; Flask Setup**</a:t>
            </a:r>
          </a:p>
        </p:txBody>
      </p:sp>
      <p:sp>
        <p:nvSpPr>
          <p:cNvPr id="3" name="Content Placeholder 2"/>
          <p:cNvSpPr>
            <a:spLocks noGrp="1"/>
          </p:cNvSpPr>
          <p:nvPr>
            <p:ph idx="1"/>
          </p:nvPr>
        </p:nvSpPr>
        <p:spPr/>
        <p:txBody>
          <a:bodyPr wrap="square"/>
          <a:lstStyle/>
          <a:p>
            <a:r>
              <a:t>**Arbete:**</a:t>
            </a:r>
          </a:p>
          <a:p>
            <a:pPr lvl="1"/>
            <a:r>
              <a:t>✅ Integrerade CICD pipeline från hello-CICD och Test.3tier</a:t>
            </a:r>
          </a:p>
          <a:p>
            <a:pPr lvl="1"/>
            <a:r>
              <a:t>✅ Fixade circular import (app/ → application/)</a:t>
            </a:r>
          </a:p>
          <a:p>
            <a:pPr lvl="1"/>
            <a:r>
              <a:t>✅ Skapade Dockerfile med Python 3.11 + ODBC Driver 18</a:t>
            </a:r>
          </a:p>
          <a:p>
            <a:pPr lvl="1"/>
            <a:r>
              <a:t>✅ Implementerade 3-tier arkitektur med application factory</a:t>
            </a:r>
          </a:p>
          <a:p>
            <a:pPr lvl="1"/>
            <a:r>
              <a:t>✅ Skapade 22 integration tests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februari 2026 - Database Sync &amp; GitHub Actions**</a:t>
            </a:r>
          </a:p>
        </p:txBody>
      </p:sp>
      <p:sp>
        <p:nvSpPr>
          <p:cNvPr id="3" name="Content Placeholder 2"/>
          <p:cNvSpPr>
            <a:spLocks noGrp="1"/>
          </p:cNvSpPr>
          <p:nvPr>
            <p:ph idx="1"/>
          </p:nvPr>
        </p:nvSpPr>
        <p:spPr/>
        <p:txBody>
          <a:bodyPr wrap="square"/>
          <a:lstStyle/>
          <a:p>
            <a:r>
              <a:t>**Arbete:**</a:t>
            </a:r>
          </a:p>
          <a:p>
            <a:pPr lvl="1"/>
            <a:r>
              <a:t>✅ Implementerade one-way sync: Azure SQL → Local SQLite</a:t>
            </a:r>
          </a:p>
          <a:p>
            <a:pPr lvl="1"/>
            <a:r>
              <a:t>✅ Uppdaterade SubscriptionService för repository pattern</a:t>
            </a:r>
          </a:p>
          <a:p>
            <a:pPr lvl="1"/>
            <a:r>
              <a:t>✅ Skapade 4 Repository Variables på GitHub</a:t>
            </a:r>
          </a:p>
          <a:p>
            <a:pPr lvl="1"/>
            <a:r>
              <a:t>✅ Uppdaterade deploy.yml paths filter (app/ → application/)</a:t>
            </a:r>
          </a:p>
          <a:p>
            <a:pPr lvl="1"/>
            <a:r>
              <a:t>✅ Fixade workflow trigger för vars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februari 2026 - Git Merge &amp; Dependencies**</a:t>
            </a:r>
          </a:p>
        </p:txBody>
      </p:sp>
      <p:sp>
        <p:nvSpPr>
          <p:cNvPr id="3" name="Content Placeholder 2"/>
          <p:cNvSpPr>
            <a:spLocks noGrp="1"/>
          </p:cNvSpPr>
          <p:nvPr>
            <p:ph idx="1"/>
          </p:nvPr>
        </p:nvSpPr>
        <p:spPr/>
        <p:txBody>
          <a:bodyPr wrap="square"/>
          <a:lstStyle/>
          <a:p>
            <a:r>
              <a:t>**Arbete:**</a:t>
            </a:r>
          </a:p>
          <a:p>
            <a:pPr lvl="1"/>
            <a:r>
              <a:t>✅ Bytte till main branch</a:t>
            </a:r>
          </a:p>
          <a:p>
            <a:pPr lvl="1"/>
            <a:r>
              <a:t>✅ Löste merge conflict på news_flash.db</a:t>
            </a:r>
          </a:p>
          <a:p>
            <a:pPr lvl="1"/>
            <a:r>
              <a:t>✅ Installerade Flask-Login, Flask-Talisman</a:t>
            </a:r>
          </a:p>
          <a:p>
            <a:pPr lvl="1"/>
            <a:r>
              <a:t>✅ Fixade Flask template/static folder config</a:t>
            </a:r>
          </a:p>
          <a:p>
            <a:pPr lvl="1"/>
            <a:r>
              <a:t>**Resultat:**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februari 2026 - AUTENTISERING &amp; AZURE DEPLOYMENT** ⭐</a:t>
            </a:r>
          </a:p>
        </p:txBody>
      </p:sp>
      <p:sp>
        <p:nvSpPr>
          <p:cNvPr id="3" name="Content Placeholder 2"/>
          <p:cNvSpPr>
            <a:spLocks noGrp="1"/>
          </p:cNvSpPr>
          <p:nvPr>
            <p:ph idx="1"/>
          </p:nvPr>
        </p:nvSpPr>
        <p:spPr/>
        <p:txBody>
          <a:bodyPr wrap="square"/>
          <a:lstStyle/>
          <a:p>
            <a:r>
              <a:t>#### **Del 1: Autentiseringsframework (7 steg)**</a:t>
            </a:r>
          </a:p>
          <a:p>
            <a:pPr lvl="1"/>
            <a:r>
              <a:t>**Arbete:**</a:t>
            </a:r>
          </a:p>
          <a:p>
            <a:pPr lvl="1"/>
            <a:r>
              <a:t>1. ✅ User Model med password hashing (Werkzeug)</a:t>
            </a:r>
          </a:p>
          <a:p>
            <a:pPr lvl="1"/>
            <a:r>
              <a:t>2. ✅ AuthenticationService med login validation</a:t>
            </a:r>
          </a:p>
          <a:p>
            <a:pPr lvl="1"/>
            <a:r>
              <a:t>3. ✅ Flask-Login med session management</a:t>
            </a:r>
          </a:p>
          <a:p>
            <a:pPr lvl="1"/>
            <a:r>
              <a:t>4. ✅ Protected routes (@login_required)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PROBLEM &amp; LÖSNINGAR (Dagens Debugging)</a:t>
            </a:r>
          </a:p>
        </p:txBody>
      </p:sp>
      <p:sp>
        <p:nvSpPr>
          <p:cNvPr id="3" name="Content Placeholder 2"/>
          <p:cNvSpPr>
            <a:spLocks noGrp="1"/>
          </p:cNvSpPr>
          <p:nvPr>
            <p:ph idx="1"/>
          </p:nvPr>
        </p:nvSpPr>
        <p:spPr/>
        <p:txBody>
          <a:bodyPr wrap="square"/>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1: Federated Credentials Saknas**</a:t>
            </a:r>
          </a:p>
        </p:txBody>
      </p:sp>
      <p:sp>
        <p:nvSpPr>
          <p:cNvPr id="3" name="Content Placeholder 2"/>
          <p:cNvSpPr>
            <a:spLocks noGrp="1"/>
          </p:cNvSpPr>
          <p:nvPr>
            <p:ph idx="1"/>
          </p:nvPr>
        </p:nvSpPr>
        <p:spPr/>
        <p:txBody>
          <a:bodyPr wrap="square"/>
          <a:lstStyle/>
          <a:p>
            <a:r>
              <a:t>**Symptom:**</a:t>
            </a:r>
          </a:p>
          <a:p>
            <a:pPr lvl="1"/>
            <a:r>
              <a:t>**Varför det hände:**</a:t>
            </a:r>
          </a:p>
          <a:p>
            <a:pPr lvl="1"/>
            <a:r>
              <a:t>Service Principal `github-demo-g6` fanns men var tom</a:t>
            </a:r>
          </a:p>
          <a:p>
            <a:pPr lvl="1"/>
            <a:r>
              <a:t>GitHub Actions försökte använda OIDC men Azure kunde inte verifiera GitHub som trusted issuer</a:t>
            </a:r>
          </a:p>
          <a:p>
            <a:pPr lvl="1"/>
            <a:r>
              <a:t>Ingen länk fanns mellan GitHub repo och Azure Service Principal</a:t>
            </a:r>
          </a:p>
          <a:p>
            <a:pPr lvl="1"/>
            <a:r>
              <a:t>**Root Cause:**</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AADSTS570025: The client has no configured federated identity credentials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2: Secrets i Public Variables**</a:t>
            </a:r>
          </a:p>
        </p:txBody>
      </p:sp>
      <p:sp>
        <p:nvSpPr>
          <p:cNvPr id="3" name="Content Placeholder 2"/>
          <p:cNvSpPr>
            <a:spLocks noGrp="1"/>
          </p:cNvSpPr>
          <p:nvPr>
            <p:ph idx="1"/>
          </p:nvPr>
        </p:nvSpPr>
        <p:spPr/>
        <p:txBody>
          <a:bodyPr wrap="square"/>
          <a:lstStyle/>
          <a:p>
            <a:r>
              <a:t>**Symptom:**</a:t>
            </a:r>
          </a:p>
          <a:p>
            <a:pPr lvl="1"/>
            <a:r>
              <a:t>**Varför det hände:**</a:t>
            </a:r>
          </a:p>
          <a:p>
            <a:pPr lvl="1"/>
            <a:r>
              <a:t>Vi hade skapat AZURE_CLIENT_SECRET som **Variable** (public, synlig)</a:t>
            </a:r>
          </a:p>
          <a:p>
            <a:pPr lvl="1"/>
            <a:r>
              <a:t>Workflow använde `${{ secrets.AZURE_CLIENT_SECRET }}` men den låg i `vars`</a:t>
            </a:r>
          </a:p>
          <a:p>
            <a:pPr lvl="1"/>
            <a:r>
              <a:t>GitHub skiljer på Secrets (encrypted) och Variables (plain text)</a:t>
            </a:r>
          </a:p>
          <a:p>
            <a:pPr lvl="1"/>
            <a:r>
              <a:t>**Root Cause:**</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Not all values are present. Ensure 'client-id' and 'tenant-id' are supplied.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Flytta till encrypted secrets</a:t>
            </a:r>
          </a:p>
        </p:txBody>
      </p:sp>
      <p:sp>
        <p:nvSpPr>
          <p:cNvPr id="3" name="Content Placeholder 2"/>
          <p:cNvSpPr>
            <a:spLocks noGrp="1"/>
          </p:cNvSpPr>
          <p:nvPr>
            <p:ph idx="1"/>
          </p:nvPr>
        </p:nvSpPr>
        <p:spPr/>
        <p:txBody>
          <a:bodyPr wrap="square"/>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 bort från public variables</a:t>
            </a:r>
          </a:p>
        </p:txBody>
      </p:sp>
      <p:sp>
        <p:nvSpPr>
          <p:cNvPr id="3" name="Content Placeholder 2"/>
          <p:cNvSpPr>
            <a:spLocks noGrp="1"/>
          </p:cNvSpPr>
          <p:nvPr>
            <p:ph idx="1"/>
          </p:nvPr>
        </p:nvSpPr>
        <p:spPr/>
        <p:txBody>
          <a:bodyPr wrap="square"/>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Workflow använder nu:</a:t>
            </a:r>
          </a:p>
        </p:txBody>
      </p:sp>
      <p:sp>
        <p:nvSpPr>
          <p:cNvPr id="3" name="Content Placeholder 2"/>
          <p:cNvSpPr>
            <a:spLocks noGrp="1"/>
          </p:cNvSpPr>
          <p:nvPr>
            <p:ph idx="1"/>
          </p:nvPr>
        </p:nvSpPr>
        <p:spPr/>
        <p:txBody>
          <a:bodyPr wrap="square"/>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secrets.AZURE_CLIENT_SECRET (encrypted)</a:t>
            </a:r>
          </a:p>
        </p:txBody>
      </p:sp>
      <p:sp>
        <p:nvSpPr>
          <p:cNvPr id="3" name="Content Placeholder 2"/>
          <p:cNvSpPr>
            <a:spLocks noGrp="1"/>
          </p:cNvSpPr>
          <p:nvPr>
            <p:ph idx="1"/>
          </p:nvPr>
        </p:nvSpPr>
        <p:spPr/>
        <p:txBody>
          <a:bodyPr wrap="square"/>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vars.AZURE_CLIENT_ID (public OK)</a:t>
            </a:r>
          </a:p>
        </p:txBody>
      </p:sp>
      <p:sp>
        <p:nvSpPr>
          <p:cNvPr id="3" name="Content Placeholder 2"/>
          <p:cNvSpPr>
            <a:spLocks noGrp="1"/>
          </p:cNvSpPr>
          <p:nvPr>
            <p:ph idx="1"/>
          </p:nvPr>
        </p:nvSpPr>
        <p:spPr/>
        <p:txBody>
          <a:bodyPr wrap="square"/>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vars.AZURE_TENANT_ID (public OK)</a:t>
            </a:r>
          </a:p>
        </p:txBody>
      </p:sp>
      <p:sp>
        <p:nvSpPr>
          <p:cNvPr id="3" name="Content Placeholder 2"/>
          <p:cNvSpPr>
            <a:spLocks noGrp="1"/>
          </p:cNvSpPr>
          <p:nvPr>
            <p:ph idx="1"/>
          </p:nvPr>
        </p:nvSpPr>
        <p:spPr/>
        <p:txBody>
          <a:bodyPr wrap="square"/>
          <a:lstStyle/>
          <a:p>
            <a:r>
              <a:t>**Teknisk förklaring:**</a:t>
            </a:r>
          </a:p>
          <a:p>
            <a:pPr lvl="1"/>
            <a:r>
              <a:t>**GitHub Secrets:** Encrypted at rest, masked i logs, ej synliga i UI</a:t>
            </a:r>
          </a:p>
          <a:p>
            <a:pPr lvl="1"/>
            <a:r>
              <a:t>**GitHub Variables:** Plain text, synliga för alla collaborators</a:t>
            </a:r>
          </a:p>
          <a:p>
            <a:pPr lvl="1"/>
            <a:r>
              <a:t>**Best Practice:** Client ID/Tenant ID = public OK, Client Secret = MÅSTE vara secret</a:t>
            </a:r>
          </a:p>
          <a:p>
            <a:pPr lvl="1"/>
            <a:r>
              <a:t>**Lärdomar:**</a:t>
            </a:r>
          </a:p>
          <a:p>
            <a:pPr lvl="1"/>
            <a:r>
              <a:t>Aldrig lagra credentials i Variables</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gh secret set AZURE_CLIENT_SECRET --body "[SECRET_REMOVED]"</a:t>
            </a:r>
          </a:p>
          <a:p>
            <a:pPr>
              <a:defRPr sz="1200">
                <a:latin typeface="Courier New"/>
              </a:defRPr>
            </a:pPr>
          </a:p>
          <a:p>
            <a:pPr>
              <a:defRPr sz="1200">
                <a:latin typeface="Courier New"/>
              </a:defRPr>
            </a:pPr>
            <a:r>
              <a:t>gh variable delete AZURE_CLIENT_SECRET</a:t>
            </a:r>
          </a:p>
          <a:p>
            <a:pPr>
              <a:defRPr sz="1200">
                <a:latin typeface="Courier New"/>
              </a:defRPr>
            </a:p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3: Service Principal Behörigheter**</a:t>
            </a:r>
          </a:p>
        </p:txBody>
      </p:sp>
      <p:sp>
        <p:nvSpPr>
          <p:cNvPr id="3" name="Content Placeholder 2"/>
          <p:cNvSpPr>
            <a:spLocks noGrp="1"/>
          </p:cNvSpPr>
          <p:nvPr>
            <p:ph idx="1"/>
          </p:nvPr>
        </p:nvSpPr>
        <p:spPr/>
        <p:txBody>
          <a:bodyPr wrap="square"/>
          <a:lstStyle/>
          <a:p>
            <a:r>
              <a:t>**Symptom:**</a:t>
            </a:r>
          </a:p>
          <a:p>
            <a:pPr lvl="1"/>
            <a:r>
              <a:t>**Varför det hände:**</a:t>
            </a:r>
          </a:p>
          <a:p>
            <a:pPr lvl="1"/>
            <a:r>
              <a:t>Vi skapade role assignment utan `--assignee-principal-type ServicePrincipal`</a:t>
            </a:r>
          </a:p>
          <a:p>
            <a:pPr lvl="1"/>
            <a:r>
              <a:t>Azure kunde inte avgöra om principal var User, Group eller ServicePrincipal</a:t>
            </a:r>
          </a:p>
          <a:p>
            <a:pPr lvl="1"/>
            <a:r>
              <a:t>RBAC service rejected assignment pga ambiguity</a:t>
            </a:r>
          </a:p>
          <a:p>
            <a:pPr lvl="1"/>
            <a:r>
              <a:t>**Root Cause:**</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(PrincipalNotFound) Principal 7a8b4711ed7948fc8956cbe0d03f4a73 does not exist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Grant Contributor (full control över resources)</a:t>
            </a:r>
          </a:p>
        </p:txBody>
      </p:sp>
      <p:sp>
        <p:nvSpPr>
          <p:cNvPr id="3" name="Content Placeholder 2"/>
          <p:cNvSpPr>
            <a:spLocks noGrp="1"/>
          </p:cNvSpPr>
          <p:nvPr>
            <p:ph idx="1"/>
          </p:nvPr>
        </p:nvSpPr>
        <p:spPr/>
        <p:txBody>
          <a:bodyPr wrap="square"/>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Grant AcrPush (push images till Container Registry)</a:t>
            </a:r>
          </a:p>
        </p:txBody>
      </p:sp>
      <p:sp>
        <p:nvSpPr>
          <p:cNvPr id="3" name="Content Placeholder 2"/>
          <p:cNvSpPr>
            <a:spLocks noGrp="1"/>
          </p:cNvSpPr>
          <p:nvPr>
            <p:ph idx="1"/>
          </p:nvPr>
        </p:nvSpPr>
        <p:spPr/>
        <p:txBody>
          <a:bodyPr wrap="square"/>
          <a:lstStyle/>
          <a:p>
            <a:r>
              <a:t>**Teknisk förklaring:**</a:t>
            </a:r>
          </a:p>
          <a:p>
            <a:pPr lvl="1"/>
            <a:r>
              <a:t>**Contributor:** Kan skapa/uppdatera/delete resources (utom role assignments)</a:t>
            </a:r>
          </a:p>
          <a:p>
            <a:pPr lvl="1"/>
            <a:r>
              <a:t>**AcrPush:** Specifikt för Container Registry (pull/push images)</a:t>
            </a:r>
          </a:p>
          <a:p>
            <a:pPr lvl="1"/>
            <a:r>
              <a:t>**Subscription scope:** Access till ALLA resources i subscription (bättre än per-resource)</a:t>
            </a:r>
          </a:p>
          <a:p>
            <a:pPr lvl="1"/>
            <a:r>
              <a:t>**Varför subscription-nivå:**</a:t>
            </a:r>
          </a:p>
          <a:p>
            <a:pPr lvl="1"/>
            <a:r>
              <a:t>Enklare management (en role assignment istället för många)</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az role assignment create \</a:t>
            </a:r>
          </a:p>
          <a:p>
            <a:pPr>
              <a:defRPr sz="1200">
                <a:latin typeface="Courier New"/>
              </a:defRPr>
            </a:pPr>
            <a:r>
              <a:t>  --role "Contributor" \</a:t>
            </a:r>
          </a:p>
          <a:p>
            <a:pPr>
              <a:defRPr sz="1200">
                <a:latin typeface="Courier New"/>
              </a:defRPr>
            </a:pPr>
            <a:r>
              <a:t>  --assignee-object-id "7a8b4711-ed79-48fc-8956-cbe0d03f4a73" \</a:t>
            </a:r>
          </a:p>
          <a:p>
            <a:pPr>
              <a:defRPr sz="1200">
                <a:latin typeface="Courier New"/>
              </a:defRPr>
            </a:pPr>
            <a:r>
              <a:t>  --assignee-principal-type ServicePrincipal \</a:t>
            </a:r>
          </a:p>
          <a:p>
            <a:pPr>
              <a:defRPr sz="1200">
                <a:latin typeface="Courier New"/>
              </a:defRPr>
            </a:pPr>
            <a:r>
              <a:t>  --scope "/subscriptions/0563c849-4f1a-4058-9e74-d624e3fced69"</a:t>
            </a:r>
          </a:p>
          <a:p>
            <a:pPr>
              <a:defRPr sz="1200">
                <a:latin typeface="Courier New"/>
              </a:defRPr>
            </a:pPr>
          </a:p>
          <a:p>
            <a:pPr>
              <a:defRPr sz="1200">
                <a:latin typeface="Courier New"/>
              </a:defRPr>
            </a:pPr>
            <a:r>
              <a:t>az role assignment create \</a:t>
            </a:r>
          </a:p>
          <a:p>
            <a:pPr>
              <a:defRPr sz="1200">
                <a:latin typeface="Courier New"/>
              </a:defRPr>
            </a:pPr>
            <a:r>
              <a:t>  --role "AcrPush" \</a:t>
            </a:r>
          </a:p>
          <a:p>
            <a:pPr>
              <a:defRPr sz="1200">
                <a:latin typeface="Courier New"/>
              </a:defRPr>
            </a:pPr>
            <a:r>
              <a:t>  --assignee-object-id "7a8b4711-ed79-48fc-8956-cbe0d03f4a73" \</a:t>
            </a:r>
          </a:p>
          <a:p>
            <a:pPr>
              <a:defRPr sz="1200">
                <a:latin typeface="Courier New"/>
              </a:defRPr>
            </a:pPr>
            <a:r>
              <a:t>  --assignee-principal-type ServicePrincipal \</a:t>
            </a:r>
          </a:p>
          <a:p>
            <a:pPr>
              <a:defRPr sz="1200">
                <a:latin typeface="Courier New"/>
              </a:defRPr>
            </a:pPr>
            <a:r>
              <a:t>  --scope "/subscriptions/0563c849-4f1a-4058-9e74-d624e3fced69"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4: Fel ACR-namn**</a:t>
            </a:r>
          </a:p>
        </p:txBody>
      </p:sp>
      <p:sp>
        <p:nvSpPr>
          <p:cNvPr id="3" name="Content Placeholder 2"/>
          <p:cNvSpPr>
            <a:spLocks noGrp="1"/>
          </p:cNvSpPr>
          <p:nvPr>
            <p:ph idx="1"/>
          </p:nvPr>
        </p:nvSpPr>
        <p:spPr/>
        <p:txBody>
          <a:bodyPr wrap="square"/>
          <a:lstStyle/>
          <a:p>
            <a:r>
              <a:t>**Symptom:**</a:t>
            </a:r>
          </a:p>
          <a:p>
            <a:pPr lvl="1"/>
            <a:r>
              <a:t>**Varför det hände:**</a:t>
            </a:r>
          </a:p>
          <a:p>
            <a:pPr lvl="1"/>
            <a:r>
              <a:t>Vi antog ACR hette `acrnewsflash` (baserat på resource group pattern)</a:t>
            </a:r>
          </a:p>
          <a:p>
            <a:pPr lvl="1"/>
            <a:r>
              <a:t>Faktiska ACR skapades med unique suffix: `acrnewsflashb488f5b7`</a:t>
            </a:r>
          </a:p>
          <a:p>
            <a:pPr lvl="1"/>
            <a:r>
              <a:t>Azure lägger till random suffix för global uniqueness</a:t>
            </a:r>
          </a:p>
          <a:p>
            <a:pPr lvl="1"/>
            <a:r>
              <a:t>**Root Cause:**</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ERROR: ACR 'acrnewsflash' not found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Verifiera faktiska namnet</a:t>
            </a:r>
          </a:p>
        </p:txBody>
      </p:sp>
      <p:sp>
        <p:nvSpPr>
          <p:cNvPr id="3" name="Content Placeholder 2"/>
          <p:cNvSpPr>
            <a:spLocks noGrp="1"/>
          </p:cNvSpPr>
          <p:nvPr>
            <p:ph idx="1"/>
          </p:nvPr>
        </p:nvSpPr>
        <p:spPr/>
        <p:txBody>
          <a:bodyPr wrap="square"/>
          <a:lstStyle/>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Output:</a:t>
            </a:r>
          </a:p>
        </p:txBody>
      </p:sp>
      <p:sp>
        <p:nvSpPr>
          <p:cNvPr id="3" name="Content Placeholder 2"/>
          <p:cNvSpPr>
            <a:spLocks noGrp="1"/>
          </p:cNvSpPr>
          <p:nvPr>
            <p:ph idx="1"/>
          </p:nvPr>
        </p:nvSpPr>
        <p:spPr/>
        <p:txBody>
          <a:bodyPr wrap="square"/>
          <a:lstStyle/>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
            </a:r>
          </a:p>
        </p:txBody>
      </p:sp>
      <p:sp>
        <p:nvSpPr>
          <p:cNvPr id="3" name="Content Placeholder 2"/>
          <p:cNvSpPr>
            <a:spLocks noGrp="1"/>
          </p:cNvSpPr>
          <p:nvPr>
            <p:ph idx="1"/>
          </p:nvPr>
        </p:nvSpPr>
        <p:spPr/>
        <p:txBody>
          <a:bodyPr wrap="square"/>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
            </a:r>
          </a:p>
        </p:txBody>
      </p:sp>
      <p:sp>
        <p:nvSpPr>
          <p:cNvPr id="3" name="Content Placeholder 2"/>
          <p:cNvSpPr>
            <a:spLocks noGrp="1"/>
          </p:cNvSpPr>
          <p:nvPr>
            <p:ph idx="1"/>
          </p:nvPr>
        </p:nvSpPr>
        <p:spPr/>
        <p:txBody>
          <a:bodyPr wrap="square"/>
          <a:lstStyle/>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"name": "acrnewsflashb488f5b7",</a:t>
            </a:r>
          </a:p>
        </p:txBody>
      </p:sp>
      <p:sp>
        <p:nvSpPr>
          <p:cNvPr id="3" name="Content Placeholder 2"/>
          <p:cNvSpPr>
            <a:spLocks noGrp="1"/>
          </p:cNvSpPr>
          <p:nvPr>
            <p:ph idx="1"/>
          </p:nvPr>
        </p:nvSpPr>
        <p:spPr/>
        <p:txBody>
          <a:bodyPr wrap="square"/>
          <a:lstStyle/>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"resourceGroup": "rg-news-flash"</a:t>
            </a:r>
          </a:p>
        </p:txBody>
      </p:sp>
      <p:sp>
        <p:nvSpPr>
          <p:cNvPr id="3" name="Content Placeholder 2"/>
          <p:cNvSpPr>
            <a:spLocks noGrp="1"/>
          </p:cNvSpPr>
          <p:nvPr>
            <p:ph idx="1"/>
          </p:nvPr>
        </p:nvSpPr>
        <p:spPr/>
        <p:txBody>
          <a:bodyPr wrap="square"/>
          <a:lstStyle/>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
            </a:r>
          </a:p>
        </p:txBody>
      </p:sp>
      <p:sp>
        <p:nvSpPr>
          <p:cNvPr id="3" name="Content Placeholder 2"/>
          <p:cNvSpPr>
            <a:spLocks noGrp="1"/>
          </p:cNvSpPr>
          <p:nvPr>
            <p:ph idx="1"/>
          </p:nvPr>
        </p:nvSpPr>
        <p:spPr/>
        <p:txBody>
          <a:bodyPr wrap="square"/>
          <a:lstStyle/>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
            </a:r>
          </a:p>
        </p:txBody>
      </p:sp>
      <p:sp>
        <p:nvSpPr>
          <p:cNvPr id="3" name="Content Placeholder 2"/>
          <p:cNvSpPr>
            <a:spLocks noGrp="1"/>
          </p:cNvSpPr>
          <p:nvPr>
            <p:ph idx="1"/>
          </p:nvPr>
        </p:nvSpPr>
        <p:spPr/>
        <p:txBody>
          <a:bodyPr wrap="square"/>
          <a:lstStyle/>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Uppdatera workflow</a:t>
            </a:r>
          </a:p>
        </p:txBody>
      </p:sp>
      <p:sp>
        <p:nvSpPr>
          <p:cNvPr id="3" name="Content Placeholder 2"/>
          <p:cNvSpPr>
            <a:spLocks noGrp="1"/>
          </p:cNvSpPr>
          <p:nvPr>
            <p:ph idx="1"/>
          </p:nvPr>
        </p:nvSpPr>
        <p:spPr/>
        <p:txBody>
          <a:bodyPr wrap="square"/>
          <a:lstStyle/>
          <a:p>
            <a:r>
              <a:t>**Teknisk förklaring:**</a:t>
            </a:r>
          </a:p>
          <a:p>
            <a:pPr lvl="1"/>
            <a:r>
              <a:t>ACR login server: `{name}.azurecr.io`</a:t>
            </a:r>
          </a:p>
          <a:p>
            <a:pPr lvl="1"/>
            <a:r>
              <a:t>Måste vara DNS-compliant och globalt unikt</a:t>
            </a:r>
          </a:p>
          <a:p>
            <a:pPr lvl="1"/>
            <a:r>
              <a:t>Azure CLI lägger automatiskt till suffix om namnet är taget</a:t>
            </a:r>
          </a:p>
          <a:p>
            <a:pPr lvl="1"/>
            <a:r>
              <a:t>**Lärdomar:**</a:t>
            </a:r>
          </a:p>
          <a:p>
            <a:pPr lvl="1"/>
            <a:r>
              <a:t>Verifiera alltid resource names med `az list` commands</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az acr list --query "[].{name:name, resourceGroup:resourceGroup}"</a:t>
            </a:r>
          </a:p>
          <a:p>
            <a:pPr>
              <a:defRPr sz="1200">
                <a:latin typeface="Courier New"/>
              </a:defRPr>
            </a:pPr>
          </a:p>
          <a:p>
            <a:pPr>
              <a:defRPr sz="1200">
                <a:latin typeface="Courier New"/>
              </a:defRPr>
            </a:pPr>
          </a:p>
          <a:p>
            <a:pPr>
              <a:defRPr sz="1200">
                <a:latin typeface="Courier New"/>
              </a:defRPr>
            </a:pPr>
            <a:r>
              <a:t>env:</a:t>
            </a:r>
          </a:p>
          <a:p>
            <a:pPr>
              <a:defRPr sz="1200">
                <a:latin typeface="Courier New"/>
              </a:defRPr>
            </a:pPr>
            <a:r>
              <a:t>  ACR_NAME: acrnewsflashb488f5b7  # ✅ Korrekt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5: Container Replica Startar Inte**</a:t>
            </a:r>
          </a:p>
        </p:txBody>
      </p:sp>
      <p:sp>
        <p:nvSpPr>
          <p:cNvPr id="3" name="Content Placeholder 2"/>
          <p:cNvSpPr>
            <a:spLocks noGrp="1"/>
          </p:cNvSpPr>
          <p:nvPr>
            <p:ph idx="1"/>
          </p:nvPr>
        </p:nvSpPr>
        <p:spPr/>
        <p:txBody>
          <a:bodyPr wrap="square"/>
          <a:lstStyle/>
          <a:p>
            <a:r>
              <a:t>**Symptom:**</a:t>
            </a:r>
          </a:p>
          <a:p>
            <a:pPr lvl="1"/>
            <a:r>
              <a:t>**Varför det hände:**</a:t>
            </a:r>
          </a:p>
          <a:p>
            <a:pPr lvl="1"/>
            <a:r>
              <a:t>`entrypoint.sh` försökte läsa `.database-url` och `.secret-key` filer</a:t>
            </a:r>
          </a:p>
          <a:p>
            <a:pPr lvl="1"/>
            <a:r>
              <a:t>Dessa filer fanns i repo men kopierades EJ till Docker image (i .gitignore)</a:t>
            </a:r>
          </a:p>
          <a:p>
            <a:pPr lvl="1"/>
            <a:r>
              <a:t>Container startade, `entrypoint.sh` kördes, men failade omedelbart</a:t>
            </a:r>
          </a:p>
          <a:p>
            <a:pPr lvl="1"/>
            <a:r>
              <a:t>Environment variables ADMIN_USERNAME/PASSWORD var inte satta</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ERROR: Could not find a replica for this app</a:t>
            </a:r>
          </a:p>
          <a:p>
            <a:pPr>
              <a:defRPr sz="1200">
                <a:latin typeface="Courier New"/>
              </a:defRPr>
            </a:pPr>
            <a:r>
              <a:t>runningReplicas: null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Läser från files</a:t>
            </a:r>
          </a:p>
        </p:txBody>
      </p:sp>
      <p:sp>
        <p:nvSpPr>
          <p:cNvPr id="3" name="Content Placeholder 2"/>
          <p:cNvSpPr>
            <a:spLocks noGrp="1"/>
          </p:cNvSpPr>
          <p:nvPr>
            <p:ph idx="1"/>
          </p:nvPr>
        </p:nvSpPr>
        <p:spPr/>
        <p:txBody>
          <a:bodyPr wrap="square"/>
          <a:lstStyle/>
          <a:p>
            <a:r>
              <a:t>**Container:**</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export DATABASE_URL=$(cat .database-url)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Injiceras som env vars från Azure</a:t>
            </a:r>
          </a:p>
        </p:txBody>
      </p:sp>
      <p:sp>
        <p:nvSpPr>
          <p:cNvPr id="3" name="Content Placeholder 2"/>
          <p:cNvSpPr>
            <a:spLocks noGrp="1"/>
          </p:cNvSpPr>
          <p:nvPr>
            <p:ph idx="1"/>
          </p:nvPr>
        </p:nvSpPr>
        <p:spPr/>
        <p:txBody>
          <a:bodyPr wrap="square"/>
          <a:lstStyle/>
          <a:p>
            <a:r>
              <a:t>**Lösning:**</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env:</a:t>
            </a:r>
          </a:p>
          <a:p>
            <a:pPr>
              <a:defRPr sz="1200">
                <a:latin typeface="Courier New"/>
              </a:defRPr>
            </a:pPr>
            <a:r>
              <a:t>  - name: DATABASE_URL</a:t>
            </a:r>
          </a:p>
          <a:p>
            <a:pPr>
              <a:defRPr sz="1200">
                <a:latin typeface="Courier New"/>
              </a:defRPr>
            </a:pPr>
            <a:r>
              <a:t>    value: "mssql+pyodbc://..."</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entrypoint.sh - FÖRE (broken)</a:t>
            </a:r>
          </a:p>
        </p:txBody>
      </p:sp>
      <p:sp>
        <p:nvSpPr>
          <p:cNvPr id="3" name="Content Placeholder 2"/>
          <p:cNvSpPr>
            <a:spLocks noGrp="1"/>
          </p:cNvSpPr>
          <p:nvPr>
            <p:ph idx="1"/>
          </p:nvPr>
        </p:nvSpPr>
        <p:spPr/>
        <p:txBody>
          <a:bodyPr wrap="square"/>
          <a:lstStyle/>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entrypoint.sh - EFTER (fixed)</a:t>
            </a:r>
          </a:p>
        </p:txBody>
      </p:sp>
      <p:sp>
        <p:nvSpPr>
          <p:cNvPr id="3" name="Content Placeholder 2"/>
          <p:cNvSpPr>
            <a:spLocks noGrp="1"/>
          </p:cNvSpPr>
          <p:nvPr>
            <p:ph idx="1"/>
          </p:nvPr>
        </p:nvSpPr>
        <p:spPr/>
        <p:txBody>
          <a:bodyPr wrap="square"/>
          <a:lstStyle/>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Container App secrets update</a:t>
            </a:r>
          </a:p>
        </p:txBody>
      </p:sp>
      <p:sp>
        <p:nvSpPr>
          <p:cNvPr id="3" name="Content Placeholder 2"/>
          <p:cNvSpPr>
            <a:spLocks noGrp="1"/>
          </p:cNvSpPr>
          <p:nvPr>
            <p:ph idx="1"/>
          </p:nvPr>
        </p:nvSpPr>
        <p:spPr/>
        <p:txBody>
          <a:bodyPr wrap="square"/>
          <a:lstStyle/>
          <a:p>
            <a:r>
              <a:t>**Teknisk förklaring:**</a:t>
            </a:r>
          </a:p>
          <a:p>
            <a:pPr lvl="1"/>
            <a:r>
              <a:t>Container App injicerar env vars vid runtime:</a:t>
            </a:r>
          </a:p>
          <a:p>
            <a:pPr lvl="1"/>
            <a:r>
              <a:t>`FLASK_ENV=production` (hardcoded i workflow)</a:t>
            </a:r>
          </a:p>
          <a:p>
            <a:pPr lvl="1"/>
            <a:r>
              <a:t>`DATABASE_URL` (från Container App config)</a:t>
            </a:r>
          </a:p>
          <a:p>
            <a:pPr lvl="1"/>
            <a:r>
              <a:t>`SECRET_KEY` (från Container App config)</a:t>
            </a:r>
          </a:p>
          <a:p>
            <a:pPr lvl="1"/>
            <a:r>
              <a:t>`ADMIN_USERNAME` (från Container App secret reference)</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if [ -f ".database-url" ]; then</a:t>
            </a:r>
          </a:p>
          <a:p>
            <a:pPr>
              <a:defRPr sz="1200">
                <a:latin typeface="Courier New"/>
              </a:defRPr>
            </a:pPr>
            <a:r>
              <a:t>    export DATABASE_URL=$(cat .database-url)</a:t>
            </a:r>
          </a:p>
          <a:p>
            <a:pPr>
              <a:defRPr sz="1200">
                <a:latin typeface="Courier New"/>
              </a:defRPr>
            </a:pPr>
            <a:r>
              <a:t>fi</a:t>
            </a:r>
          </a:p>
          <a:p>
            <a:pPr>
              <a:defRPr sz="1200">
                <a:latin typeface="Courier New"/>
              </a:defRPr>
            </a:pPr>
          </a:p>
          <a:p>
            <a:pPr>
              <a:defRPr sz="1200">
                <a:latin typeface="Courier New"/>
              </a:defRPr>
            </a:pPr>
            <a:r>
              <a:t>if [ -z "$DATABASE_URL" ]; then</a:t>
            </a:r>
          </a:p>
          <a:p>
            <a:pPr>
              <a:defRPr sz="1200">
                <a:latin typeface="Courier New"/>
              </a:defRPr>
            </a:pPr>
            <a:r>
              <a:t>    echo "ERROR: DATABASE_URL environment variable not set!"</a:t>
            </a:r>
          </a:p>
          <a:p>
            <a:pPr>
              <a:defRPr sz="1200">
                <a:latin typeface="Courier New"/>
              </a:defRPr>
            </a:pPr>
            <a:r>
              <a:t>    exit 1</a:t>
            </a:r>
          </a:p>
          <a:p>
            <a:pPr>
              <a:defRPr sz="1200">
                <a:latin typeface="Courier New"/>
              </a:defRPr>
            </a:pPr>
            <a:r>
              <a:t>fi</a:t>
            </a:r>
          </a:p>
          <a:p>
            <a:pPr>
              <a:defRPr sz="1200">
                <a:latin typeface="Courier New"/>
              </a:defRPr>
            </a:pPr>
          </a:p>
          <a:p>
            <a:pPr>
              <a:defRPr sz="1200">
                <a:latin typeface="Courier New"/>
              </a:defRPr>
            </a:pPr>
            <a:r>
              <a:t>az containerapp secret set \</a:t>
            </a:r>
          </a:p>
          <a:p>
            <a:pPr>
              <a:defRPr sz="1200">
                <a:latin typeface="Courier New"/>
              </a:defRPr>
            </a:pPr>
            <a:r>
              <a:t>  --name ca-news-flash \</a:t>
            </a:r>
          </a:p>
          <a:p>
            <a:pPr>
              <a:defRPr sz="1200">
                <a:latin typeface="Courier New"/>
              </a:defRPr>
            </a:pPr>
            <a:r>
              <a:t>  --resource-group rg-news-flash \</a:t>
            </a:r>
          </a:p>
          <a:p>
            <a:pPr>
              <a:defRPr sz="1200">
                <a:latin typeface="Courier New"/>
              </a:defRPr>
            </a:pPr>
            <a:r>
              <a:t>  --secrets admin-username="admin" admin-password="password123"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6: Workflow Exit Code 1**</a:t>
            </a:r>
          </a:p>
        </p:txBody>
      </p:sp>
      <p:sp>
        <p:nvSpPr>
          <p:cNvPr id="3" name="Content Placeholder 2"/>
          <p:cNvSpPr>
            <a:spLocks noGrp="1"/>
          </p:cNvSpPr>
          <p:nvPr>
            <p:ph idx="1"/>
          </p:nvPr>
        </p:nvSpPr>
        <p:spPr/>
        <p:txBody>
          <a:bodyPr wrap="square"/>
          <a:lstStyle/>
          <a:p>
            <a:r>
              <a:t>**Symptom:**</a:t>
            </a:r>
          </a:p>
          <a:p>
            <a:pPr lvl="1"/>
            <a:r>
              <a:t>**Varför det hände:**</a:t>
            </a:r>
          </a:p>
          <a:p>
            <a:pPr lvl="1"/>
            <a:r>
              <a:t>Deployment complete-steget hade `exit 1` i slutet av echo-commands</a:t>
            </a:r>
          </a:p>
          <a:p>
            <a:pPr lvl="1"/>
            <a:r>
              <a:t>Detta var kvar från tidigare debugging/testing</a:t>
            </a:r>
          </a:p>
          <a:p>
            <a:pPr lvl="1"/>
            <a:r>
              <a:t>GitHub Actions tolkar exit code 1 som failure (även om deployment lyckades)</a:t>
            </a:r>
          </a:p>
          <a:p>
            <a:pPr lvl="1"/>
            <a:r>
              <a:t>**Root Cause:**</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Error: Process completed with exit code 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FÖRE (broken)</a:t>
            </a:r>
          </a:p>
        </p:txBody>
      </p:sp>
      <p:sp>
        <p:nvSpPr>
          <p:cNvPr id="3" name="Content Placeholder 2"/>
          <p:cNvSpPr>
            <a:spLocks noGrp="1"/>
          </p:cNvSpPr>
          <p:nvPr>
            <p:ph idx="1"/>
          </p:nvPr>
        </p:nvSpPr>
        <p:spPr/>
        <p:txBody>
          <a:bodyPr wrap="square"/>
          <a:lstStyle/>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EFTER (fixed)</a:t>
            </a:r>
          </a:p>
        </p:txBody>
      </p:sp>
      <p:sp>
        <p:nvSpPr>
          <p:cNvPr id="3" name="Content Placeholder 2"/>
          <p:cNvSpPr>
            <a:spLocks noGrp="1"/>
          </p:cNvSpPr>
          <p:nvPr>
            <p:ph idx="1"/>
          </p:nvPr>
        </p:nvSpPr>
        <p:spPr/>
        <p:txBody>
          <a:bodyPr wrap="square"/>
          <a:lstStyle/>
          <a:p>
            <a:r>
              <a:t>**Teknisk förklaring:**</a:t>
            </a:r>
          </a:p>
          <a:p>
            <a:pPr lvl="1"/>
            <a:r>
              <a:t>Exit code 0 = success (standard)</a:t>
            </a:r>
          </a:p>
          <a:p>
            <a:pPr lvl="1"/>
            <a:r>
              <a:t>Exit code 1-255 = failure (olika error types)</a:t>
            </a:r>
          </a:p>
          <a:p>
            <a:pPr lvl="1"/>
            <a:r>
              <a:t>GitHub Actions checkar exit code efter varje step</a:t>
            </a:r>
          </a:p>
          <a:p>
            <a:pPr lvl="1"/>
            <a:r>
              <a:t>`set -e` i shell gör att step failar vid första non-zero exit</a:t>
            </a:r>
          </a:p>
          <a:p>
            <a:pPr lvl="1"/>
            <a:r>
              <a:t>**Lärdomar:**</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 name: Deployment complete</a:t>
            </a:r>
          </a:p>
          <a:p>
            <a:pPr>
              <a:defRPr sz="1200">
                <a:latin typeface="Courier New"/>
              </a:defRPr>
            </a:pPr>
            <a:r>
              <a:t>  run: |</a:t>
            </a:r>
          </a:p>
          <a:p>
            <a:pPr>
              <a:defRPr sz="1200">
                <a:latin typeface="Courier New"/>
              </a:defRPr>
            </a:pPr>
            <a:r>
              <a:t>    echo "✅ Flask app deployed successfully"</a:t>
            </a:r>
          </a:p>
          <a:p>
            <a:pPr>
              <a:defRPr sz="1200">
                <a:latin typeface="Courier New"/>
              </a:defRPr>
            </a:pPr>
            <a:r>
              <a:t>    exit 1  # ❌ WRONG!</a:t>
            </a:r>
          </a:p>
          <a:p>
            <a:pPr>
              <a:defRPr sz="1200">
                <a:latin typeface="Courier New"/>
              </a:defRPr>
            </a:pPr>
          </a:p>
          <a:p>
            <a:pPr>
              <a:defRPr sz="1200">
                <a:latin typeface="Courier New"/>
              </a:defRPr>
            </a:pPr>
            <a:r>
              <a:t>- name: Deployment complete</a:t>
            </a:r>
          </a:p>
          <a:p>
            <a:pPr>
              <a:defRPr sz="1200">
                <a:latin typeface="Courier New"/>
              </a:defRPr>
            </a:pPr>
            <a:r>
              <a:t>  run: |</a:t>
            </a:r>
          </a:p>
          <a:p>
            <a:pPr>
              <a:defRPr sz="1200">
                <a:latin typeface="Courier New"/>
              </a:defRPr>
            </a:pPr>
            <a:r>
              <a:t>    echo "Flask app deployed successfully to ca-news-flash"</a:t>
            </a:r>
          </a:p>
          <a:p>
            <a:pPr>
              <a:defRPr sz="1200">
                <a:latin typeface="Courier New"/>
              </a:defRPr>
            </a:pPr>
            <a:r>
              <a:t>    echo "Container will start with entrypoint.sh phases:"</a:t>
            </a:r>
          </a:p>
          <a:p>
            <a:pPr>
              <a:defRPr sz="1200">
                <a:latin typeface="Courier New"/>
              </a:defRPr>
            </a:pPr>
            <a:r>
              <a:t>    echo "  1. Database migrations (flask db upgrade)"</a:t>
            </a:r>
          </a:p>
          <a:p>
            <a:pPr>
              <a:defRPr sz="1200">
                <a:latin typeface="Courier New"/>
              </a:defRPr>
            </a:pPr>
            <a:r>
              <a:t>    echo "  2. Admin user seeding (flask create-admin)"</a:t>
            </a:r>
          </a:p>
          <a:p>
            <a:pPr>
              <a:defRPr sz="1200">
                <a:latin typeface="Courier New"/>
              </a:defRPr>
            </a:pPr>
            <a:r>
              <a:t>    echo "  3. gunicorn server startup"</a:t>
            </a:r>
          </a:p>
          <a:p>
            <a:pPr>
              <a:defRPr sz="1200">
                <a:latin typeface="Courier New"/>
              </a:defRPr>
            </a:pPr>
            <a:r>
              <a:t>    # Exit code 0 implicit (success)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STATISTIK</a:t>
            </a:r>
          </a:p>
        </p:txBody>
      </p:sp>
      <p:sp>
        <p:nvSpPr>
          <p:cNvPr id="3" name="Content Placeholder 2"/>
          <p:cNvSpPr>
            <a:spLocks noGrp="1"/>
          </p:cNvSpPr>
          <p:nvPr>
            <p:ph idx="1"/>
          </p:nvPr>
        </p:nvSpPr>
        <p:spPr/>
        <p:txBody>
          <a:bodyPr wrap="square"/>
          <a:lstStyle/>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**Kod &amp; Filer**</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Total filer skapade/uppdaterade: 57</a:t>
            </a:r>
          </a:p>
          <a:p>
            <a:pPr>
              <a:defRPr sz="1200">
                <a:latin typeface="Courier New"/>
              </a:defRPr>
            </a:pPr>
            <a:r>
              <a:t>Python filer: 31 (inkl. 8 test-filer)</a:t>
            </a:r>
          </a:p>
          <a:p>
            <a:pPr>
              <a:defRPr sz="1200">
                <a:latin typeface="Courier New"/>
              </a:defRPr>
            </a:pPr>
            <a:r>
              <a:t>Test files: 8 (90 totala tester)</a:t>
            </a:r>
          </a:p>
          <a:p>
            <a:pPr>
              <a:defRPr sz="1200">
                <a:latin typeface="Courier New"/>
              </a:defRPr>
            </a:pPr>
            <a:r>
              <a:t>Templates: 7 (inkl. error pages)</a:t>
            </a:r>
          </a:p>
          <a:p>
            <a:pPr>
              <a:defRPr sz="1200">
                <a:latin typeface="Courier New"/>
              </a:defRPr>
            </a:pPr>
            <a:r>
              <a:t>Config filer: 9</a:t>
            </a:r>
          </a:p>
          <a:p>
            <a:pPr>
              <a:defRPr sz="1200">
                <a:latin typeface="Courier New"/>
              </a:defRPr>
            </a:pPr>
            <a:r>
              <a:t>Docker/CI-CD: 3</a:t>
            </a:r>
          </a:p>
          <a:p>
            <a:pPr>
              <a:defRPr sz="1200">
                <a:latin typeface="Courier New"/>
              </a:defRPr>
            </a:pPr>
            <a:r>
              <a:t>Documentation: 4 (inkl. TESTING.md, run_tests.py)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 Commits**</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Total commits: 25+</a:t>
            </a:r>
          </a:p>
          <a:p>
            <a:pPr>
              <a:defRPr sz="1200">
                <a:latin typeface="Courier New"/>
              </a:defRPr>
            </a:pPr>
            <a:r>
              <a:t>Merge conflicts lösta: 1</a:t>
            </a:r>
          </a:p>
          <a:p>
            <a:pPr>
              <a:defRPr sz="1200">
                <a:latin typeface="Courier New"/>
              </a:defRPr>
            </a:pPr>
            <a:r>
              <a:t>Branches: main (working branch)</a:t>
            </a:r>
          </a:p>
          <a:p>
            <a:pPr>
              <a:defRPr sz="1200">
                <a:latin typeface="Courier New"/>
              </a:defRPr>
            </a:pPr>
            <a:r>
              <a:t>Pull requests: 0 (direct push till main - dev environment)</a:t>
            </a:r>
          </a:p>
          <a:p>
            <a:pPr>
              <a:defRPr sz="1200">
                <a:latin typeface="Courier New"/>
              </a:defRPr>
            </a:pPr>
            <a:r>
              <a:t>Testing commits: 7 (test suite implementation)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**GitHub Actions Runs**</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Total runs: 13</a:t>
            </a:r>
          </a:p>
          <a:p>
            <a:pPr>
              <a:defRPr sz="1200">
                <a:latin typeface="Courier New"/>
              </a:defRPr>
            </a:pPr>
            <a:r>
              <a:t>Misslyckade: 12</a:t>
            </a:r>
          </a:p>
          <a:p>
            <a:pPr>
              <a:defRPr sz="1200">
                <a:latin typeface="Courier New"/>
              </a:defRPr>
            </a:pPr>
            <a:r>
              <a:t>Lyckade: 1 ✅</a:t>
            </a:r>
          </a:p>
          <a:p>
            <a:pPr>
              <a:defRPr sz="1200">
                <a:latin typeface="Courier New"/>
              </a:defRPr>
            </a:pPr>
            <a:r>
              <a:t>Genomsnittlig build-tid: ~2 minuter</a:t>
            </a:r>
          </a:p>
          <a:p>
            <a:pPr>
              <a:defRPr sz="1200">
                <a:latin typeface="Courier New"/>
              </a:defRPr>
            </a:pPr>
            <a:r>
              <a:t>Total CI/CD tid: ~26 minuter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**Azure Resources**</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Resource Groups: 1 (rg-news-flash)</a:t>
            </a:r>
          </a:p>
          <a:p>
            <a:pPr>
              <a:defRPr sz="1200">
                <a:latin typeface="Courier New"/>
              </a:defRPr>
            </a:pPr>
            <a:r>
              <a:t>Container Apps: 1 (ca-news-flash)</a:t>
            </a:r>
          </a:p>
          <a:p>
            <a:pPr>
              <a:defRPr sz="1200">
                <a:latin typeface="Courier New"/>
              </a:defRPr>
            </a:pPr>
            <a:r>
              <a:t>Container Registries: 1 (acrnewsflashb488f5b7)</a:t>
            </a:r>
          </a:p>
          <a:p>
            <a:pPr>
              <a:defRPr sz="1200">
                <a:latin typeface="Courier New"/>
              </a:defRPr>
            </a:pPr>
            <a:r>
              <a:t>SQL Databases: 1 (sql-news-flash-7508d847)</a:t>
            </a:r>
          </a:p>
          <a:p>
            <a:pPr>
              <a:defRPr sz="1200">
                <a:latin typeface="Courier New"/>
              </a:defRPr>
            </a:pPr>
            <a:r>
              <a:t>Service Principals: 1 (github-demo-g6)</a:t>
            </a:r>
          </a:p>
          <a:p>
            <a:pPr>
              <a:defRPr sz="1200">
                <a:latin typeface="Courier New"/>
              </a:defRPr>
            </a:pPr>
            <a:r>
              <a:t>Role Assignments: 2 (Contributor + AcrPush)</a:t>
            </a:r>
          </a:p>
          <a:p>
            <a:pPr>
              <a:defRPr sz="1200">
                <a:latin typeface="Courier New"/>
              </a:defRPr>
            </a:pPr>
            <a:r>
              <a:t>Federated Credentials: 1 (GitHub OIDC)</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r>
              <a:t>Automated Tests: 90 total (100% pass rate)</a:t>
            </a:r>
          </a:p>
          <a:p>
            <a:pPr>
              <a:defRPr sz="1200">
                <a:latin typeface="Courier New"/>
              </a:defRPr>
            </a:pPr>
            <a:r>
              <a:t>Test Files: 8</a:t>
            </a:r>
          </a:p>
          <a:p>
            <a:pPr>
              <a:defRPr sz="1200">
                <a:latin typeface="Courier New"/>
              </a:defRPr>
            </a:pPr>
            <a:r>
              <a:t>Test Classes: 24</a:t>
            </a:r>
          </a:p>
          <a:p>
            <a:pPr>
              <a:defRPr sz="1200">
                <a:latin typeface="Courier New"/>
              </a:defRPr>
            </a:pPr>
            <a:r>
              <a:t>Test Execution Time: 11-12 seconds</a:t>
            </a:r>
          </a:p>
          <a:p>
            <a:pPr>
              <a:defRPr sz="1200">
                <a:latin typeface="Courier New"/>
              </a:defRPr>
            </a:pPr>
            <a:r>
              <a:t>Code Coverage: ~85% (estimated)</a:t>
            </a:r>
          </a:p>
          <a:p>
            <a:pPr>
              <a:defRPr sz="1200">
                <a:latin typeface="Courier New"/>
              </a:defRPr>
            </a:pPr>
            <a:r>
              <a:t>Test Infrastructure: pytest + pytest-flask</a:t>
            </a:r>
          </a:p>
          <a:p>
            <a:pPr>
              <a:defRPr sz="1200">
                <a:latin typeface="Courier New"/>
              </a:defRPr>
            </a:pPr>
            <a:r>
              <a:t>Fixtures: 4 (app, client, authenticated_client, runner)</a:t>
            </a:r>
          </a:p>
          <a:p>
            <a:pPr>
              <a:defRPr sz="1200">
                <a:latin typeface="Courier New"/>
              </a:defRPr>
            </a:pPr>
            <a:r>
              <a:t>Manual Testing: Extensive (login, dashboard, subscription)</a:t>
            </a:r>
          </a:p>
          <a:p>
            <a:pPr>
              <a:defRPr sz="1200">
                <a:latin typeface="Courier New"/>
              </a:defRPr>
            </a:pPr>
            <a:r>
              <a:t>Integration Tests: 11 (end-to-end flows)</a:t>
            </a:r>
          </a:p>
          <a:p>
            <a:pPr>
              <a:defRPr sz="1200">
                <a:latin typeface="Courier New"/>
              </a:defRPr>
            </a:pPr>
            <a:r>
              <a:t>Security Tests: 12 (OWASP headers, auth)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TEKNISK STACK</a:t>
            </a:r>
          </a:p>
        </p:txBody>
      </p:sp>
      <p:sp>
        <p:nvSpPr>
          <p:cNvPr id="3" name="Content Placeholder 2"/>
          <p:cNvSpPr>
            <a:spLocks noGrp="1"/>
          </p:cNvSpPr>
          <p:nvPr>
            <p:ph idx="1"/>
          </p:nvPr>
        </p:nvSpPr>
        <p:spPr/>
        <p:txBody>
          <a:bodyPr wrap="square"/>
          <a:lstStyle/>
          <a:p>
            <a:r>
              <a:t>A[HTML/CSS]</a:t>
            </a:r>
          </a:p>
          <a:p>
            <a:pPr lvl="1"/>
            <a:r>
              <a:t>B[Jinja2 Templates]</a:t>
            </a:r>
          </a:p>
          <a:p>
            <a:pPr lvl="1"/>
            <a:r>
              <a:t>C[Bootstrap CSS]</a:t>
            </a:r>
          </a:p>
          <a:p>
            <a:pPr lvl="1"/>
            <a:r>
              <a:t>end</a:t>
            </a:r>
          </a:p>
          <a:p>
            <a:pPr lvl="1"/>
            <a:r>
              <a:t>D[Flask-Login 0.6.3]</a:t>
            </a:r>
          </a:p>
          <a:p>
            <a:pPr lvl="1"/>
            <a:r>
              <a:t>E[Flask-SQLAlchemy]</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p:txBody>
      </p:sp>
      <p:sp>
        <p:nvSpPr>
          <p:cNvPr id="5" name="TextBox 4"/>
          <p:cNvSpPr txBox="1"/>
          <p:nvPr/>
        </p:nvSpPr>
        <p:spPr>
          <a:xfrm>
            <a:off x="457200" y="3657600"/>
            <a:ext cx="8229600" cy="914400"/>
          </a:xfrm>
          <a:prstGeom prst="rect">
            <a:avLst/>
          </a:prstGeom>
          <a:noFill/>
        </p:spPr>
        <p:txBody>
          <a:bodyPr wrap="none">
            <a:spAutoFit/>
          </a:bodyPr>
          <a:lstStyle/>
          <a:p>
            <a:r>
              <a:t>[DIAGRAM PLACEHOLDER]</a:t>
            </a:r>
          </a:p>
          <a:p>
            <a:r>
              <a:t>Export Mermaid → PNG och infoga här.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PROJEKTSTRUKTUR</a:t>
            </a:r>
          </a:p>
        </p:txBody>
      </p:sp>
      <p:sp>
        <p:nvSpPr>
          <p:cNvPr id="3" name="Content Placeholder 2"/>
          <p:cNvSpPr>
            <a:spLocks noGrp="1"/>
          </p:cNvSpPr>
          <p:nvPr>
            <p:ph idx="1"/>
          </p:nvPr>
        </p:nvSpPr>
        <p:spPr/>
        <p:txBody>
          <a:bodyPr wrap="square"/>
          <a:lstStyle/>
          <a:p>
            <a:r>
              <a:t>Demo-G6/</a:t>
            </a:r>
          </a:p>
          <a:p>
            <a:pPr lvl="1"/>
            <a:r>
              <a:t>├── application/                    # 3-tier Flask app</a:t>
            </a:r>
          </a:p>
          <a:p>
            <a:pPr lvl="1"/>
            <a:r>
              <a:t>│   ├── __init__.py                # Application factory</a:t>
            </a:r>
          </a:p>
          <a:p>
            <a:pPr lvl="1"/>
            <a:r>
              <a:t>│   ├── admin/                     # Presentation - Admin</a:t>
            </a:r>
          </a:p>
          <a:p>
            <a:pPr lvl="1"/>
            <a:r>
              <a:t>│   │   ├── __init__.py</a:t>
            </a:r>
          </a:p>
          <a:p>
            <a:pPr lvl="1"/>
            <a:r>
              <a:t>│   │   └── routes.py              # Login, dashboard, logout</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SÄKERHETSIMPLEMENTERING</a:t>
            </a:r>
          </a:p>
        </p:txBody>
      </p:sp>
      <p:sp>
        <p:nvSpPr>
          <p:cNvPr id="3" name="Content Placeholder 2"/>
          <p:cNvSpPr>
            <a:spLocks noGrp="1"/>
          </p:cNvSpPr>
          <p:nvPr>
            <p:ph idx="1"/>
          </p:nvPr>
        </p:nvSpPr>
        <p:spPr/>
        <p:txBody>
          <a:bodyPr wrap="square"/>
          <a:lstStyle/>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**7-stegs Autentiseringsframework**</a:t>
            </a:r>
          </a:p>
        </p:txBody>
      </p:sp>
      <p:sp>
        <p:nvSpPr>
          <p:cNvPr id="3" name="Content Placeholder 2"/>
          <p:cNvSpPr>
            <a:spLocks noGrp="1"/>
          </p:cNvSpPr>
          <p:nvPr>
            <p:ph idx="1"/>
          </p:nvPr>
        </p:nvSpPr>
        <p:spPr/>
        <p:txBody>
          <a:bodyPr wrap="square"/>
          <a:lstStyle/>
          <a:p>
            <a:r>
              <a:t>A[Steg 1: User Model&lt;br/&gt;Password Hashing] --&gt; B[Steg 2: Authentication Service&lt;br/&gt;Login Validation]</a:t>
            </a:r>
          </a:p>
          <a:p>
            <a:pPr lvl="1"/>
            <a:r>
              <a:t>B --&gt; C[Steg 3: Flask-Login&lt;br/&gt;Session Management]</a:t>
            </a:r>
          </a:p>
          <a:p>
            <a:pPr lvl="1"/>
            <a:r>
              <a:t>C --&gt; D[Steg 4: Protected Routes&lt;br/&gt;@login_required]</a:t>
            </a:r>
          </a:p>
          <a:p>
            <a:pPr lvl="1"/>
            <a:r>
              <a:t>D --&gt; E[Steg 5: Admin CLI&lt;br/&gt;flask create-admin]</a:t>
            </a:r>
          </a:p>
          <a:p>
            <a:pPr lvl="1"/>
            <a:r>
              <a:t>E --&gt; F[Steg 6: Talisman&lt;br/&gt;Security Headers]</a:t>
            </a:r>
          </a:p>
          <a:p>
            <a:pPr lvl="1"/>
            <a:r>
              <a:t>F --&gt; G[Steg 7: Secure Cookies&lt;br/&gt;HTTPONLY + SAMESITE]</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a:p>
            <a:pPr>
              <a:defRPr sz="1200">
                <a:latin typeface="Courier New"/>
              </a:defRPr>
            </a:pPr>
          </a:p>
        </p:txBody>
      </p:sp>
      <p:sp>
        <p:nvSpPr>
          <p:cNvPr id="5" name="TextBox 4"/>
          <p:cNvSpPr txBox="1"/>
          <p:nvPr/>
        </p:nvSpPr>
        <p:spPr>
          <a:xfrm>
            <a:off x="457200" y="3657600"/>
            <a:ext cx="8229600" cy="914400"/>
          </a:xfrm>
          <a:prstGeom prst="rect">
            <a:avLst/>
          </a:prstGeom>
          <a:noFill/>
        </p:spPr>
        <p:txBody>
          <a:bodyPr wrap="none">
            <a:spAutoFit/>
          </a:bodyPr>
          <a:lstStyle/>
          <a:p>
            <a:r>
              <a:t>[DIAGRAM PLACEHOLDER]</a:t>
            </a:r>
          </a:p>
          <a:p>
            <a:r>
              <a:t>Export Mermaid → PNG och infoga här.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LÄRDOMAR &amp; BEST PRACTICES</a:t>
            </a:r>
          </a:p>
        </p:txBody>
      </p:sp>
      <p:sp>
        <p:nvSpPr>
          <p:cNvPr id="3" name="Content Placeholder 2"/>
          <p:cNvSpPr>
            <a:spLocks noGrp="1"/>
          </p:cNvSpPr>
          <p:nvPr>
            <p:ph idx="1"/>
          </p:nvPr>
        </p:nvSpPr>
        <p:spPr/>
        <p:txBody>
          <a:bodyPr wrap="square"/>
          <a:lstStyle/>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**CI/CD**</a:t>
            </a:r>
          </a:p>
        </p:txBody>
      </p:sp>
      <p:sp>
        <p:nvSpPr>
          <p:cNvPr id="3" name="Content Placeholder 2"/>
          <p:cNvSpPr>
            <a:spLocks noGrp="1"/>
          </p:cNvSpPr>
          <p:nvPr>
            <p:ph idx="1"/>
          </p:nvPr>
        </p:nvSpPr>
        <p:spPr/>
        <p:txBody>
          <a:bodyPr wrap="square"/>
          <a:lstStyle/>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**Container Apps**</a:t>
            </a:r>
          </a:p>
        </p:txBody>
      </p:sp>
      <p:sp>
        <p:nvSpPr>
          <p:cNvPr id="3" name="Content Placeholder 2"/>
          <p:cNvSpPr>
            <a:spLocks noGrp="1"/>
          </p:cNvSpPr>
          <p:nvPr>
            <p:ph idx="1"/>
          </p:nvPr>
        </p:nvSpPr>
        <p:spPr/>
        <p:txBody>
          <a:bodyPr wrap="square"/>
          <a:lstStyle/>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**Flask**</a:t>
            </a:r>
          </a:p>
        </p:txBody>
      </p:sp>
      <p:sp>
        <p:nvSpPr>
          <p:cNvPr id="3" name="Content Placeholder 2"/>
          <p:cNvSpPr>
            <a:spLocks noGrp="1"/>
          </p:cNvSpPr>
          <p:nvPr>
            <p:ph idx="1"/>
          </p:nvPr>
        </p:nvSpPr>
        <p:spPr/>
        <p:txBody>
          <a:bodyPr wrap="square"/>
          <a:lstStyle/>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**Azure**</a:t>
            </a:r>
          </a:p>
        </p:txBody>
      </p:sp>
      <p:sp>
        <p:nvSpPr>
          <p:cNvPr id="3" name="Content Placeholder 2"/>
          <p:cNvSpPr>
            <a:spLocks noGrp="1"/>
          </p:cNvSpPr>
          <p:nvPr>
            <p:ph idx="1"/>
          </p:nvPr>
        </p:nvSpPr>
        <p:spPr/>
        <p:txBody>
          <a:bodyPr wrap="square"/>
          <a:lstStyle/>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**GitHub**</a:t>
            </a:r>
          </a:p>
        </p:txBody>
      </p:sp>
      <p:sp>
        <p:nvSpPr>
          <p:cNvPr id="3" name="Content Placeholder 2"/>
          <p:cNvSpPr>
            <a:spLocks noGrp="1"/>
          </p:cNvSpPr>
          <p:nvPr>
            <p:ph idx="1"/>
          </p:nvPr>
        </p:nvSpPr>
        <p:spPr/>
        <p:txBody>
          <a:bodyPr wrap="square"/>
          <a:lstStyle/>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PROJEKTETS STYRKOR</a:t>
            </a:r>
          </a:p>
        </p:txBody>
      </p:sp>
      <p:sp>
        <p:nvSpPr>
          <p:cNvPr id="3" name="Content Placeholder 2"/>
          <p:cNvSpPr>
            <a:spLocks noGrp="1"/>
          </p:cNvSpPr>
          <p:nvPr>
            <p:ph idx="1"/>
          </p:nvPr>
        </p:nvSpPr>
        <p:spPr/>
        <p:txBody>
          <a:bodyPr wrap="square"/>
          <a:lstStyle/>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DEPLOYMENT METRICS</a:t>
            </a:r>
          </a:p>
        </p:txBody>
      </p:sp>
      <p:sp>
        <p:nvSpPr>
          <p:cNvPr id="3" name="Content Placeholder 2"/>
          <p:cNvSpPr>
            <a:spLocks noGrp="1"/>
          </p:cNvSpPr>
          <p:nvPr>
            <p:ph idx="1"/>
          </p:nvPr>
        </p:nvSpPr>
        <p:spPr/>
        <p:txBody>
          <a:bodyPr wrap="square"/>
          <a:lstStyle/>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 Performance**</a:t>
            </a:r>
          </a:p>
        </p:txBody>
      </p:sp>
      <p:sp>
        <p:nvSpPr>
          <p:cNvPr id="3" name="Content Placeholder 2"/>
          <p:cNvSpPr>
            <a:spLocks noGrp="1"/>
          </p:cNvSpPr>
          <p:nvPr>
            <p:ph idx="1"/>
          </p:nvPr>
        </p:nvSpPr>
        <p:spPr/>
        <p:txBody>
          <a:bodyPr wrap="square"/>
          <a:lstStyle/>
          <a:p>
            <a:r>
              <a:t>Docker Image Size: ~850 MB (Python 3.11 + ODBC drivers)</a:t>
            </a:r>
          </a:p>
          <a:p>
            <a:pPr lvl="1"/>
            <a:r>
              <a:t>Build Time: ~45 seconds (ACR build)</a:t>
            </a:r>
          </a:p>
          <a:p>
            <a:pPr lvl="1"/>
            <a:r>
              <a:t>Deploy Time: ~25 seconds (Container App update)</a:t>
            </a:r>
          </a:p>
          <a:p>
            <a:pPr lvl="1"/>
            <a:r>
              <a:t>Startup Time: ~8 seconds (migrations + seed + gunicorn)</a:t>
            </a:r>
          </a:p>
          <a:p>
            <a:pPr lvl="1"/>
            <a:r>
              <a:t>Total Pipeline: ~2 minutes (checkout → deploy → running)</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4. **Database Security**</a:t>
            </a:r>
          </a:p>
          <a:p>
            <a:pPr>
              <a:defRPr sz="1200">
                <a:latin typeface="Courier New"/>
              </a:defRPr>
            </a:pPr>
            <a:r>
              <a:t>   - Azure SQL med encrypted connection (`Encrypt=yes`)</a:t>
            </a:r>
          </a:p>
          <a:p>
            <a:pPr>
              <a:defRPr sz="1200">
                <a:latin typeface="Courier New"/>
              </a:defRPr>
            </a:pPr>
            <a:r>
              <a:t>   - ODBC Driver 18 (latest security patches)</a:t>
            </a:r>
          </a:p>
          <a:p>
            <a:pPr>
              <a:defRPr sz="1200">
                <a:latin typeface="Courier New"/>
              </a:defRPr>
            </a:pPr>
            <a:r>
              <a:t>   - Parameterized queries (SQLAlchemy prevents SQL injection)</a:t>
            </a:r>
          </a:p>
          <a:p>
            <a:pPr>
              <a:defRPr sz="1200">
                <a:latin typeface="Courier New"/>
              </a:defRPr>
            </a:pPr>
            <a:r>
              <a:t>   - Connection string i secrets (ej hardcoded)</a:t>
            </a:r>
          </a:p>
          <a:p>
            <a:pPr>
              <a:defRPr sz="1200">
                <a:latin typeface="Courier New"/>
              </a:defRPr>
            </a:pPr>
          </a:p>
          <a:p>
            <a:pPr>
              <a:defRPr sz="1200">
                <a:latin typeface="Courier New"/>
              </a:defRPr>
            </a:pPr>
            <a:r>
              <a:t>5. **OIDC Security**</a:t>
            </a:r>
          </a:p>
          <a:p>
            <a:pPr>
              <a:defRPr sz="1200">
                <a:latin typeface="Courier New"/>
              </a:defRPr>
            </a:pPr>
            <a:r>
              <a:t>   - No client secrets i GitHub (använder Federated Credentials)</a:t>
            </a:r>
          </a:p>
          <a:p>
            <a:pPr>
              <a:defRPr sz="1200">
                <a:latin typeface="Courier New"/>
              </a:defRPr>
            </a:pPr>
            <a:r>
              <a:t>   - Short-lived tokens (GitHub issues, Azure validates)</a:t>
            </a:r>
          </a:p>
          <a:p>
            <a:pPr>
              <a:defRPr sz="1200">
                <a:latin typeface="Courier New"/>
              </a:defRPr>
            </a:pPr>
            <a:r>
              <a:t>   - Audience restriction (`api://AzureADTokenExchange`)</a:t>
            </a:r>
          </a:p>
          <a:p>
            <a:pPr>
              <a:defRPr sz="1200">
                <a:latin typeface="Courier New"/>
              </a:defRPr>
            </a:pPr>
            <a:r>
              <a:t>   - Subject restriction (endast `stanko-droid/Demo-G6:main`)</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a:p>
            <a:pPr>
              <a:defRPr sz="1200">
                <a:latin typeface="Courier New"/>
              </a:defRPr>
            </a:pPr>
            <a:r>
              <a:t>✅ Använd OIDC istället för client secrets (säkrare, ingen key rotation)  </a:t>
            </a:r>
          </a:p>
          <a:p>
            <a:pPr>
              <a:defRPr sz="1200">
                <a:latin typeface="Courier New"/>
              </a:defRPr>
            </a:pPr>
            <a:r>
              <a:t>✅ Federated Credentials = trust relationship, inte authentication  </a:t>
            </a:r>
          </a:p>
          <a:p>
            <a:pPr>
              <a:defRPr sz="1200">
                <a:latin typeface="Courier New"/>
              </a:defRPr>
            </a:pPr>
            <a:r>
              <a:t>✅ Subscription-scope passar bättre än resource group för CI/CD  </a:t>
            </a:r>
          </a:p>
          <a:p>
            <a:pPr>
              <a:defRPr sz="1200">
                <a:latin typeface="Courier New"/>
              </a:defRPr>
            </a:pPr>
            <a:r>
              <a:t>✅ Verifiera alltid resource names med `az list` commands  </a:t>
            </a:r>
          </a:p>
          <a:p>
            <a:pPr>
              <a:defRPr sz="1200">
                <a:latin typeface="Courier New"/>
              </a:defRPr>
            </a:pPr>
            <a:r>
              <a:t>✅ Healthchecks kan faila med self-signed certs - använd försiktigt  </a:t>
            </a:r>
          </a:p>
          <a:p>
            <a:pPr>
              <a:defRPr sz="1200">
                <a:latin typeface="Courier New"/>
              </a:defRPr>
            </a:pPr>
          </a:p>
          <a:p>
            <a:pPr>
              <a:defRPr sz="1200">
                <a:latin typeface="Courier New"/>
              </a:defRPr>
            </a:pPr>
            <a:r>
              <a:t>✅ Environment variables &gt; file-based config i containers  </a:t>
            </a:r>
          </a:p>
          <a:p>
            <a:pPr>
              <a:defRPr sz="1200">
                <a:latin typeface="Courier New"/>
              </a:defRPr>
            </a:pPr>
            <a:r>
              <a:t>✅ Validera alltid env vars i entrypoint scripts  </a:t>
            </a:r>
          </a:p>
          <a:p>
            <a:pPr>
              <a:defRPr sz="1200">
                <a:latin typeface="Courier New"/>
              </a:defRPr>
            </a:pPr>
            <a:r>
              <a:t>✅ Använd `set -e` för fail-fast behavior  </a:t>
            </a:r>
          </a:p>
          <a:p>
            <a:pPr>
              <a:defRPr sz="1200">
                <a:latin typeface="Courier New"/>
              </a:defRPr>
            </a:pPr>
            <a:r>
              <a:t>✅ Secrets roteras via Azure CLI utan redeploy  </a:t>
            </a:r>
          </a:p>
          <a:p>
            <a:pPr>
              <a:defRPr sz="1200">
                <a:latin typeface="Courier New"/>
              </a:defRPr>
            </a:pPr>
            <a:r>
              <a:t>✅ Container logs når via `az containerapp logs show`  </a:t>
            </a:r>
          </a:p>
          <a:p>
            <a:pPr>
              <a:defRPr sz="1200">
                <a:latin typeface="Courier New"/>
              </a:defRPr>
            </a:pPr>
          </a:p>
          <a:p>
            <a:pPr>
              <a:defRPr sz="1200">
                <a:latin typeface="Courier New"/>
              </a:defRPr>
            </a:pPr>
            <a:r>
              <a:t>✅ Environment-aware config (dev/testing/production)  </a:t>
            </a:r>
          </a:p>
          <a:p>
            <a:pPr>
              <a:defRPr sz="1200">
                <a:latin typeface="Courier New"/>
              </a:defRPr>
            </a:pPr>
            <a:r>
              <a:t>✅ Talisman endast i production (annars blockerar localhost)  </a:t>
            </a:r>
          </a:p>
          <a:p>
            <a:pPr>
              <a:defRPr sz="1200">
                <a:latin typeface="Courier New"/>
              </a:defRPr>
            </a:pPr>
            <a:r>
              <a:t>✅ SESSION_COOKIE_SECURE conditional på environment  </a:t>
            </a:r>
          </a:p>
          <a:p>
            <a:pPr>
              <a:defRPr sz="1200">
                <a:latin typeface="Courier New"/>
              </a:defRPr>
            </a:pPr>
            <a:r>
              <a:t>✅ Idempotent CLI commands (exit 0 även vid "already exists")  </a:t>
            </a:r>
          </a:p>
          <a:p>
            <a:pPr>
              <a:defRPr sz="1200">
                <a:latin typeface="Courier New"/>
              </a:defRPr>
            </a:pPr>
            <a:r>
              <a:t>✅ Templates i root `/templates` för enklare Flask routing  </a:t>
            </a:r>
          </a:p>
          <a:p>
            <a:pPr>
              <a:defRPr sz="1200">
                <a:latin typeface="Courier New"/>
              </a:defRPr>
            </a:pPr>
          </a:p>
          <a:p>
            <a:pPr>
              <a:defRPr sz="1200">
                <a:latin typeface="Courier New"/>
              </a:defRPr>
            </a:pPr>
            <a:r>
              <a:t>✅ ACR names måste vara globalt unika (Azure lägger till suffix)  </a:t>
            </a:r>
          </a:p>
          <a:p>
            <a:pPr>
              <a:defRPr sz="1200">
                <a:latin typeface="Courier New"/>
              </a:defRPr>
            </a:pPr>
            <a:r>
              <a:t>✅ Service Principal type måste specificeras explicit  </a:t>
            </a:r>
          </a:p>
          <a:p>
            <a:pPr>
              <a:defRPr sz="1200">
                <a:latin typeface="Courier New"/>
              </a:defRPr>
            </a:pPr>
            <a:r>
              <a:t>✅ Role assignments kan ta 1-2 minuter att propagera  </a:t>
            </a:r>
          </a:p>
          <a:p>
            <a:pPr>
              <a:defRPr sz="1200">
                <a:latin typeface="Courier New"/>
              </a:defRPr>
            </a:pPr>
            <a:r>
              <a:t>✅ Container App secrets refereras med `secretref:name`  </a:t>
            </a:r>
          </a:p>
          <a:p>
            <a:pPr>
              <a:defRPr sz="1200">
                <a:latin typeface="Courier New"/>
              </a:defRPr>
            </a:pPr>
            <a:r>
              <a:t>✅ ODBC Driver 18 krävs för Azure SQL från Linux  </a:t>
            </a:r>
          </a:p>
          <a:p>
            <a:pPr>
              <a:defRPr sz="1200">
                <a:latin typeface="Courier New"/>
              </a:defRPr>
            </a:pPr>
          </a:p>
          <a:p>
            <a:pPr>
              <a:defRPr sz="1200">
                <a:latin typeface="Courier New"/>
              </a:defRPr>
            </a:pPr>
            <a:r>
              <a:t>✅ Secrets = encrypted, Variables = plain text  </a:t>
            </a:r>
          </a:p>
          <a:p>
            <a:pPr>
              <a:defRPr sz="1200">
                <a:latin typeface="Courier New"/>
              </a:defRPr>
            </a:pPr>
            <a:r>
              <a:t>✅ Client IDs är publika (identifierar, autentiserar ej)  </a:t>
            </a:r>
          </a:p>
          <a:p>
            <a:pPr>
              <a:defRPr sz="1200">
                <a:latin typeface="Courier New"/>
              </a:defRPr>
            </a:pPr>
            <a:r>
              <a:t>✅ Exit code 0 = success, 1-255 = failure  </a:t>
            </a:r>
          </a:p>
          <a:p>
            <a:pPr>
              <a:defRPr sz="1200">
                <a:latin typeface="Courier New"/>
              </a:defRPr>
            </a:pPr>
            <a:r>
              <a:t>✅ `set -x` för verbose logging i shell scripts  </a:t>
            </a:r>
          </a:p>
          <a:p>
            <a:pPr>
              <a:defRPr sz="1200">
                <a:latin typeface="Courier New"/>
              </a:defRPr>
            </a:pPr>
            <a:r>
              <a:t>✅ GitHub Actions logs maskerar secrets automatiskt  </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a:p>
            <a:pPr>
              <a:defRPr sz="1200">
                <a:latin typeface="Courier New"/>
              </a:defRPr>
            </a:pPr>
            <a:r>
              <a:t>1. **Komplett 3-tier arkitektur** - Separation of concerns, testbar, maintainable</a:t>
            </a:r>
          </a:p>
          <a:p>
            <a:pPr>
              <a:defRPr sz="1200">
                <a:latin typeface="Courier New"/>
              </a:defRPr>
            </a:pPr>
            <a:r>
              <a:t>2. **OIDC Security** - State-of-the-art authentication, inga secrets i GitHub</a:t>
            </a:r>
          </a:p>
          <a:p>
            <a:pPr>
              <a:defRPr sz="1200">
                <a:latin typeface="Courier New"/>
              </a:defRPr>
            </a:pPr>
            <a:r>
              <a:t>3. **Idempotent Operations** - Migrations och admin seeding kan köras upprepade gånger</a:t>
            </a:r>
          </a:p>
          <a:p>
            <a:pPr>
              <a:defRPr sz="1200">
                <a:latin typeface="Courier New"/>
              </a:defRPr>
            </a:pPr>
            <a:r>
              <a:t>4. **Environment-aware** - Samma codebase fungerar dev/testing/production</a:t>
            </a:r>
          </a:p>
          <a:p>
            <a:pPr>
              <a:defRPr sz="1200">
                <a:latin typeface="Courier New"/>
              </a:defRPr>
            </a:pPr>
            <a:r>
              <a:t>5. **Automated CI/CD** - Push to main → automatic deployment till Azure</a:t>
            </a:r>
          </a:p>
          <a:p>
            <a:pPr>
              <a:defRPr sz="1200">
                <a:latin typeface="Courier New"/>
              </a:defRPr>
            </a:pPr>
            <a:r>
              <a:t>6. **Database Flexibility** - Azure SQL primary + SQLite backup med sync</a:t>
            </a:r>
          </a:p>
          <a:p>
            <a:pPr>
              <a:defRPr sz="1200">
                <a:latin typeface="Courier New"/>
              </a:defRPr>
            </a:pPr>
            <a:r>
              <a:t>7. **Comprehensive Testing** - 22 integration tests, manual testing verifierad</a:t>
            </a:r>
          </a:p>
          <a:p>
            <a:pPr>
              <a:defRPr sz="1200">
                <a:latin typeface="Courier New"/>
              </a:defRPr>
            </a:pPr>
            <a:r>
              <a:t>8. **Security First** - OWASP headers, secure cookies, password hashing, OIDC</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**Resource Usage**</a:t>
            </a:r>
          </a:p>
        </p:txBody>
      </p:sp>
      <p:sp>
        <p:nvSpPr>
          <p:cNvPr id="3" name="Content Placeholder 2"/>
          <p:cNvSpPr>
            <a:spLocks noGrp="1"/>
          </p:cNvSpPr>
          <p:nvPr>
            <p:ph idx="1"/>
          </p:nvPr>
        </p:nvSpPr>
        <p:spPr/>
        <p:txBody>
          <a:bodyPr wrap="square"/>
          <a:lstStyle/>
          <a:p>
            <a:r>
              <a:t>Container App:</a:t>
            </a:r>
          </a:p>
          <a:p>
            <a:pPr lvl="1"/>
            <a:r>
              <a:t>CPU: 0.25 vCPU</a:t>
            </a:r>
          </a:p>
          <a:p>
            <a:pPr lvl="1"/>
            <a:r>
              <a:t>Memory: 0.5 Gi</a:t>
            </a:r>
          </a:p>
          <a:p>
            <a:pPr lvl="1"/>
            <a:r>
              <a:t>Replicas: 1 (min: 0, max: 10)</a:t>
            </a:r>
          </a:p>
          <a:p>
            <a:pPr lvl="1"/>
            <a:r>
              <a:t>Scaling: Auto (HTTP traffic based)</a:t>
            </a:r>
          </a:p>
          <a:p>
            <a:pPr lvl="1"/>
            <a:r>
              <a:t>Azure SQL:</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**Cost Estimate** (per månad)</a:t>
            </a:r>
          </a:p>
        </p:txBody>
      </p:sp>
      <p:sp>
        <p:nvSpPr>
          <p:cNvPr id="3" name="Content Placeholder 2"/>
          <p:cNvSpPr>
            <a:spLocks noGrp="1"/>
          </p:cNvSpPr>
          <p:nvPr>
            <p:ph idx="1"/>
          </p:nvPr>
        </p:nvSpPr>
        <p:spPr/>
        <p:txBody>
          <a:bodyPr wrap="square"/>
          <a:lstStyle/>
          <a:p>
            <a:r>
              <a:t>Container App: ~$15-20 (0.25 vCPU, 0.5 Gi, 1 replica)</a:t>
            </a:r>
          </a:p>
          <a:p>
            <a:pPr lvl="1"/>
            <a:r>
              <a:t>Azure SQL Basic: ~$5</a:t>
            </a:r>
          </a:p>
          <a:p>
            <a:pPr lvl="1"/>
            <a:r>
              <a:t>Container Registry: ~$5 (Basic tier)</a:t>
            </a:r>
          </a:p>
          <a:p>
            <a:pPr lvl="1"/>
            <a:r>
              <a:t>Total: ~$25-30/månad (utvecklingsmiljö)</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KOMPLETT TESTNING - 90 AUTOMATISERADE TESTER</a:t>
            </a:r>
          </a:p>
        </p:txBody>
      </p:sp>
      <p:sp>
        <p:nvSpPr>
          <p:cNvPr id="3" name="Content Placeholder 2"/>
          <p:cNvSpPr>
            <a:spLocks noGrp="1"/>
          </p:cNvSpPr>
          <p:nvPr>
            <p:ph idx="1"/>
          </p:nvPr>
        </p:nvSpPr>
        <p:spPr/>
        <p:txBody>
          <a:bodyPr wrap="square"/>
          <a:lstStyle/>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februari 2026 - Testing Sprint** ⭐</a:t>
            </a:r>
          </a:p>
        </p:txBody>
      </p:sp>
      <p:sp>
        <p:nvSpPr>
          <p:cNvPr id="3" name="Content Placeholder 2"/>
          <p:cNvSpPr>
            <a:spLocks noGrp="1"/>
          </p:cNvSpPr>
          <p:nvPr>
            <p:ph idx="1"/>
          </p:nvPr>
        </p:nvSpPr>
        <p:spPr/>
        <p:txBody>
          <a:bodyPr wrap="square"/>
          <a:lstStyle/>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Test Suite Översikt**</a:t>
            </a:r>
          </a:p>
        </p:txBody>
      </p:sp>
      <p:sp>
        <p:nvSpPr>
          <p:cNvPr id="3" name="Content Placeholder 2"/>
          <p:cNvSpPr>
            <a:spLocks noGrp="1"/>
          </p:cNvSpPr>
          <p:nvPr>
            <p:ph idx="1"/>
          </p:nvPr>
        </p:nvSpPr>
        <p:spPr/>
        <p:txBody>
          <a:bodyPr wrap="square"/>
          <a:lstStyle/>
          <a:p>
            <a:r>
              <a:t>A[pytest 8.3.4]</a:t>
            </a:r>
          </a:p>
          <a:p>
            <a:pPr lvl="1"/>
            <a:r>
              <a:t>B[pytest-flask 1.3.0]</a:t>
            </a:r>
          </a:p>
          <a:p>
            <a:pPr lvl="1"/>
            <a:r>
              <a:t>C[In-Memory SQLite]</a:t>
            </a:r>
          </a:p>
          <a:p>
            <a:pPr lvl="1"/>
            <a:r>
              <a:t>D[4 Fixtures]</a:t>
            </a:r>
          </a:p>
          <a:p>
            <a:pPr lvl="1"/>
            <a:r>
              <a:t>end</a:t>
            </a:r>
          </a:p>
          <a:p>
            <a:pPr lvl="1"/>
            <a:r>
              <a:t>E[Smoke Tests&lt;br/&gt;4 tests]</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a:p>
            <a:pPr>
              <a:defRPr sz="1200">
                <a:latin typeface="Courier New"/>
              </a:defRPr>
            </a:pPr>
          </a:p>
          <a:p>
            <a:pPr>
              <a:defRPr sz="1200">
                <a:latin typeface="Courier New"/>
              </a:defRPr>
            </a:pPr>
            <a:r>
              <a:t>Efter att ha byggt hela applikationen och deployat till Azure, genomförde vi en omfattande testing-sprint baserad på pytest best practices. Detta resulterade i **90 automatiserade tester** som täcker alla lager av applikationen.</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p:txBody>
      </p:sp>
      <p:sp>
        <p:nvSpPr>
          <p:cNvPr id="5" name="TextBox 4"/>
          <p:cNvSpPr txBox="1"/>
          <p:nvPr/>
        </p:nvSpPr>
        <p:spPr>
          <a:xfrm>
            <a:off x="457200" y="3657600"/>
            <a:ext cx="8229600" cy="914400"/>
          </a:xfrm>
          <a:prstGeom prst="rect">
            <a:avLst/>
          </a:prstGeom>
          <a:noFill/>
        </p:spPr>
        <p:txBody>
          <a:bodyPr wrap="none">
            <a:spAutoFit/>
          </a:bodyPr>
          <a:lstStyle/>
          <a:p>
            <a:r>
              <a:t>[DIAGRAM PLACEHOLDER]</a:t>
            </a:r>
          </a:p>
          <a:p>
            <a:r>
              <a:t>Export Mermaid → PNG och infoga här.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Test Coverage Breakdown**</a:t>
            </a:r>
          </a:p>
        </p:txBody>
      </p:sp>
      <p:sp>
        <p:nvSpPr>
          <p:cNvPr id="3" name="Content Placeholder 2"/>
          <p:cNvSpPr>
            <a:spLocks noGrp="1"/>
          </p:cNvSpPr>
          <p:nvPr>
            <p:ph idx="1"/>
          </p:nvPr>
        </p:nvSpPr>
        <p:spPr/>
        <p:txBody>
          <a:bodyPr wrap="square"/>
          <a:lstStyle/>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Test Infrastructure i Detalj**</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a:p>
            <a:pPr>
              <a:defRPr sz="1200">
                <a:latin typeface="Courier New"/>
              </a:defRPr>
            </a:pPr>
            <a:r>
              <a:t>| Test File | Tester | Syfte | Status |</a:t>
            </a:r>
          </a:p>
          <a:p>
            <a:pPr>
              <a:defRPr sz="1200">
                <a:latin typeface="Courier New"/>
              </a:defRPr>
            </a:pPr>
            <a:r>
              <a:t>|-----------|--------|-------|--------|</a:t>
            </a:r>
          </a:p>
          <a:p>
            <a:pPr>
              <a:defRPr sz="1200">
                <a:latin typeface="Courier New"/>
              </a:defRPr>
            </a:pPr>
            <a:r>
              <a:t>| **test_smoke.py** | 4 | Grundläggande app-funktionalitet | ✅ 4/4 |</a:t>
            </a:r>
          </a:p>
          <a:p>
            <a:pPr>
              <a:defRPr sz="1200">
                <a:latin typeface="Courier New"/>
              </a:defRPr>
            </a:pPr>
            <a:r>
              <a:t>| **test_routes.py** | 10 | HTTP routes och templates | ✅ 10/10 |</a:t>
            </a:r>
          </a:p>
          <a:p>
            <a:pPr>
              <a:defRPr sz="1200">
                <a:latin typeface="Courier New"/>
              </a:defRPr>
            </a:pPr>
            <a:r>
              <a:t>| **test_subscription_service.py** | 19 | Business layer validering | ✅ 19/19 |</a:t>
            </a:r>
          </a:p>
          <a:p>
            <a:pPr>
              <a:defRPr sz="1200">
                <a:latin typeface="Courier New"/>
              </a:defRPr>
            </a:pPr>
            <a:r>
              <a:t>| **test_subscriber_repository.py** | 14 | Databas CRUD-operationer | ✅ 14/14 |</a:t>
            </a:r>
          </a:p>
          <a:p>
            <a:pPr>
              <a:defRPr sz="1200">
                <a:latin typeface="Courier New"/>
              </a:defRPr>
            </a:pPr>
            <a:r>
              <a:t>| **test_form_submission.py** | 11 | End-to-end formulär-hantering | ✅ 11/11 |</a:t>
            </a:r>
          </a:p>
          <a:p>
            <a:pPr>
              <a:defRPr sz="1200">
                <a:latin typeface="Courier New"/>
              </a:defRPr>
            </a:pPr>
            <a:r>
              <a:t>| **test_auth_service.py** | 10 | Autentisering och lösenord | ✅ 10/10 |</a:t>
            </a:r>
          </a:p>
          <a:p>
            <a:pPr>
              <a:defRPr sz="1200">
                <a:latin typeface="Courier New"/>
              </a:defRPr>
            </a:pPr>
            <a:r>
              <a:t>| **test_protected_routes.py** | 10 | Login/logout och skyddade routes | ✅ 10/10 |</a:t>
            </a:r>
          </a:p>
          <a:p>
            <a:pPr>
              <a:defRPr sz="1200">
                <a:latin typeface="Courier New"/>
              </a:defRPr>
            </a:pPr>
            <a:r>
              <a:t>| **test_security.py** | 12 | Security headers och error pages | ✅ 12/12 |</a:t>
            </a:r>
          </a:p>
          <a:p>
            <a:pPr>
              <a:defRPr sz="1200">
                <a:latin typeface="Courier New"/>
              </a:defRPr>
            </a:pPr>
            <a:r>
              <a:t>| **TOTALT** | **90** | **Komplett test suite** | **✅ 90/90** |</a:t>
            </a:r>
          </a:p>
          <a:p>
            <a:pPr>
              <a:defRPr sz="1200">
                <a:latin typeface="Courier New"/>
              </a:defRPr>
            </a:pPr>
          </a:p>
          <a:p>
            <a:pPr>
              <a:defRPr sz="1200">
                <a:latin typeface="Courier New"/>
              </a:defRPr>
            </a:pPr>
            <a:r>
              <a:t>**Exekveringstid:** ~11-12 sekunder  </a:t>
            </a:r>
          </a:p>
          <a:p>
            <a:pPr>
              <a:defRPr sz="1200">
                <a:latin typeface="Courier New"/>
              </a:defRPr>
            </a:pPr>
            <a:r>
              <a:t>**Test Coverage:** ~85% (uppskattad)  </a:t>
            </a:r>
          </a:p>
          <a:p>
            <a:pPr>
              <a:defRPr sz="1200">
                <a:latin typeface="Courier New"/>
              </a:defRPr>
            </a:pPr>
            <a:r>
              <a:t>**Test Success Rate:** 100%</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a:p>
            <a:pPr>
              <a:defRPr sz="1200">
                <a:latin typeface="Courier New"/>
              </a:defRPr>
            </a:pPr>
            <a:r>
              <a:t>#### **Pytest Fixtures (conftest.py)**</a:t>
            </a:r>
          </a:p>
          <a:p>
            <a:pPr>
              <a:defRPr sz="1200">
                <a:latin typeface="Courier New"/>
              </a:defRPr>
            </a:pPr>
          </a:p>
          <a:p>
            <a:pPr>
              <a:defRPr sz="1200">
                <a:latin typeface="Courier New"/>
              </a:defRPr>
            </a:pPr>
            <a:r>
              <a:t>Vi skapade 4 återanvändbara fixtures för testisolering:</a:t>
            </a:r>
          </a:p>
          <a:p>
            <a:pPr>
              <a:defRPr sz="1200">
                <a:latin typeface="Courier New"/>
              </a:defRPr>
            </a:pP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tests/conftest.py</a:t>
            </a:r>
          </a:p>
        </p:txBody>
      </p:sp>
      <p:sp>
        <p:nvSpPr>
          <p:cNvPr id="3" name="Content Placeholder 2"/>
          <p:cNvSpPr>
            <a:spLocks noGrp="1"/>
          </p:cNvSpPr>
          <p:nvPr>
            <p:ph idx="1"/>
          </p:nvPr>
        </p:nvSpPr>
        <p:spPr/>
        <p:txBody>
          <a:bodyPr wrap="square"/>
          <a:lstStyle/>
          <a:p>
            <a:r>
              <a:t>@pytest.fixture</a:t>
            </a:r>
          </a:p>
          <a:p>
            <a:pPr lvl="1"/>
            <a:r>
              <a:t>def app():</a:t>
            </a:r>
          </a:p>
          <a:p>
            <a:pPr lvl="1"/>
            <a:r>
              <a:t>"""Create application instance for testing.</a:t>
            </a:r>
          </a:p>
          <a:p>
            <a:pPr lvl="1"/>
            <a:r>
              <a:t>Uses in-memory SQLite database that is created fresh for each test.</a:t>
            </a:r>
          </a:p>
          <a:p>
            <a:pPr lvl="1"/>
            <a:r>
              <a:t>"""</a:t>
            </a:r>
          </a:p>
          <a:p>
            <a:pPr lvl="1"/>
            <a:r>
              <a:t>app = create_app("testing")</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Test-Driven Development Journey**</a:t>
            </a:r>
          </a:p>
        </p:txBody>
      </p:sp>
      <p:sp>
        <p:nvSpPr>
          <p:cNvPr id="3" name="Content Placeholder 2"/>
          <p:cNvSpPr>
            <a:spLocks noGrp="1"/>
          </p:cNvSpPr>
          <p:nvPr>
            <p:ph idx="1"/>
          </p:nvPr>
        </p:nvSpPr>
        <p:spPr/>
        <p:txBody>
          <a:bodyPr wrap="square"/>
          <a:lstStyle/>
          <a:p>
            <a:r>
              <a:t>timeline</a:t>
            </a:r>
          </a:p>
          <a:p>
            <a:pPr lvl="1"/>
            <a:r>
              <a:t>title Testing Implementation Timeline (10-11 Feb 2026)</a:t>
            </a:r>
          </a:p>
          <a:p>
            <a:pPr lvl="1"/>
            <a:r>
              <a:t>section Exercise 1-2</a:t>
            </a:r>
          </a:p>
          <a:p>
            <a:pPr lvl="1"/>
            <a:r>
              <a:t>Pytest Setup : 4 smoke tests</a:t>
            </a:r>
          </a:p>
          <a:p>
            <a:pPr lvl="1"/>
            <a:r>
              <a:t>Routes &amp; Templates : 10 route tests</a:t>
            </a:r>
          </a:p>
          <a:p>
            <a:pPr lvl="1"/>
            <a:r>
              <a:t>section Exercise 3-4</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**Varför fixtures?**</a:t>
            </a:r>
          </a:p>
          <a:p>
            <a:pPr>
              <a:defRPr sz="1200">
                <a:latin typeface="Courier New"/>
              </a:defRPr>
            </a:pPr>
            <a:r>
              <a:t>- **Testisolering:** Varje test får en tom databas (inga sidoeffekter)</a:t>
            </a:r>
          </a:p>
          <a:p>
            <a:pPr>
              <a:defRPr sz="1200">
                <a:latin typeface="Courier New"/>
              </a:defRPr>
            </a:pPr>
            <a:r>
              <a:t>- **DRY-princip:** Återanvänd setup-kod istället för att duplicera</a:t>
            </a:r>
          </a:p>
          <a:p>
            <a:pPr>
              <a:defRPr sz="1200">
                <a:latin typeface="Courier New"/>
              </a:defRPr>
            </a:pPr>
            <a:r>
              <a:t>- **Etch A Sketch-mönster:** Skaka plattan ren mellan varje test</a:t>
            </a:r>
          </a:p>
          <a:p>
            <a:pPr>
              <a:defRPr sz="1200">
                <a:latin typeface="Courier New"/>
              </a:defRPr>
            </a:pPr>
            <a:r>
              <a:t>- **In-memory SQLite:** Snabbt (inget disk I/O), inga persistent filer</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a:p>
            <a:pPr>
              <a:defRPr sz="1200">
                <a:latin typeface="Courier New"/>
              </a:defRPr>
            </a:pPr>
            <a:r>
              <a:t>Vi följde en systematisk approach baserat på kursmaterial:</a:t>
            </a:r>
          </a:p>
          <a:p>
            <a:pPr>
              <a:defRPr sz="1200">
                <a:latin typeface="Courier New"/>
              </a:defRPr>
            </a:pP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War Story #1: Database-skräcken**</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r>
              <a:t>#### *Varför enhetstester inte räcker*</a:t>
            </a:r>
          </a:p>
          <a:p>
            <a:pPr>
              <a:defRPr sz="1200">
                <a:latin typeface="Courier New"/>
              </a:defRPr>
            </a:pPr>
          </a:p>
          <a:p>
            <a:pPr>
              <a:defRPr sz="1200">
                <a:latin typeface="Courier New"/>
              </a:defRPr>
            </a:pPr>
            <a:r>
              <a:t>**Scenariot:** "Det funkade i testerna!"</a:t>
            </a:r>
          </a:p>
          <a:p>
            <a:pPr>
              <a:defRPr sz="1200">
                <a:latin typeface="Courier New"/>
              </a:defRPr>
            </a:pPr>
          </a:p>
          <a:p>
            <a:pPr>
              <a:defRPr sz="1200">
                <a:latin typeface="Courier New"/>
              </a:defRPr>
            </a:pPr>
            <a:r>
              <a:t>En klassisk DevOps-mardröm. Utvecklaren hade skrivit enhetstester med mocks för prenumerationssystemet. 100% code coverage! Men i produktion kunde hälften av användarna inte logga in.</a:t>
            </a:r>
          </a:p>
          <a:p>
            <a:pPr>
              <a:defRPr sz="1200">
                <a:latin typeface="Courier New"/>
              </a:defRPr>
            </a:pPr>
          </a:p>
          <a:p>
            <a:pPr>
              <a:defRPr sz="1200">
                <a:latin typeface="Courier New"/>
              </a:defRPr>
            </a:pPr>
            <a:r>
              <a:t>**Vad hände?**</a:t>
            </a:r>
          </a:p>
          <a:p>
            <a:pPr>
              <a:defRPr sz="1200">
                <a:latin typeface="Courier New"/>
              </a:defRPr>
            </a:pP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Användarens input vid registrering</a:t>
            </a:r>
          </a:p>
        </p:txBody>
      </p:sp>
      <p:sp>
        <p:nvSpPr>
          <p:cNvPr id="3" name="Content Placeholder 2"/>
          <p:cNvSpPr>
            <a:spLocks noGrp="1"/>
          </p:cNvSpPr>
          <p:nvPr>
            <p:ph idx="1"/>
          </p:nvPr>
        </p:nvSpPr>
        <p:spPr/>
        <p:txBody>
          <a:bodyPr wrap="square"/>
          <a:lstStyle/>
          <a:p>
            <a:r>
              <a:t>user_input = "USER@MAIL.COM"  # Med versaler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layer normaliserar</a:t>
            </a:r>
          </a:p>
        </p:txBody>
      </p:sp>
      <p:sp>
        <p:nvSpPr>
          <p:cNvPr id="3" name="Content Placeholder 2"/>
          <p:cNvSpPr>
            <a:spLocks noGrp="1"/>
          </p:cNvSpPr>
          <p:nvPr>
            <p:ph idx="1"/>
          </p:nvPr>
        </p:nvSpPr>
        <p:spPr/>
        <p:txBody>
          <a:bodyPr wrap="square"/>
          <a:lstStyle/>
          <a:p>
            <a:r>
              <a:t>normalized = user_input.lower()  # → "user@mail.com"</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Sparas i databasen</a:t>
            </a:r>
          </a:p>
        </p:txBody>
      </p:sp>
      <p:sp>
        <p:nvSpPr>
          <p:cNvPr id="3" name="Content Placeholder 2"/>
          <p:cNvSpPr>
            <a:spLocks noGrp="1"/>
          </p:cNvSpPr>
          <p:nvPr>
            <p:ph idx="1"/>
          </p:nvPr>
        </p:nvSpPr>
        <p:spPr/>
        <p:txBody>
          <a:bodyPr wrap="square"/>
          <a:lstStyle/>
          <a:p>
            <a:r>
              <a:t>database.save(normalized)  # Gemener i DB</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Vid inloggning</a:t>
            </a:r>
          </a:p>
        </p:txBody>
      </p:sp>
      <p:sp>
        <p:nvSpPr>
          <p:cNvPr id="3" name="Content Placeholder 2"/>
          <p:cNvSpPr>
            <a:spLocks noGrp="1"/>
          </p:cNvSpPr>
          <p:nvPr>
            <p:ph idx="1"/>
          </p:nvPr>
        </p:nvSpPr>
        <p:spPr/>
        <p:txBody>
          <a:bodyPr wrap="square"/>
          <a:lstStyle/>
          <a:p>
            <a:r>
              <a:t>login_attempt = "USER@MAIL.COM"  # Samma input</a:t>
            </a:r>
          </a:p>
          <a:p>
            <a:pPr lvl="1"/>
            <a:r>
              <a:t>if login_attempt == stored_email:  # Exakt matchning!</a:t>
            </a:r>
          </a:p>
          <a:p>
            <a:pPr lvl="1"/>
            <a:r>
              <a:t># ❌ FALLER! "USER@MAIL.COM" != "user@mail.com"</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**Varför missade enhetstesterna detta?**</a:t>
            </a:r>
          </a:p>
          <a:p>
            <a:pPr>
              <a:defRPr sz="1200">
                <a:latin typeface="Courier New"/>
              </a:defRPr>
            </a:p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Enhetstestet (med mock)</a:t>
            </a:r>
          </a:p>
        </p:txBody>
      </p:sp>
      <p:sp>
        <p:nvSpPr>
          <p:cNvPr id="3" name="Content Placeholder 2"/>
          <p:cNvSpPr>
            <a:spLocks noGrp="1"/>
          </p:cNvSpPr>
          <p:nvPr>
            <p:ph idx="1"/>
          </p:nvPr>
        </p:nvSpPr>
        <p:spPr/>
        <p:txBody>
          <a:bodyPr wrap="square"/>
          <a:lstStyle/>
          <a:p>
            <a:r>
              <a:t>def test_normalization_unit():</a:t>
            </a:r>
          </a:p>
          <a:p>
            <a:pPr lvl="1"/>
            <a:r>
              <a:t>service = SubscriptionService()</a:t>
            </a:r>
          </a:p>
          <a:p>
            <a:pPr lvl="1"/>
            <a:r>
              <a:t>result = service.normalize_email("TEST@MAIL.COM")</a:t>
            </a:r>
          </a:p>
          <a:p>
            <a:pPr lvl="1"/>
            <a:r>
              <a:t>assert result == "test@mail.com"  # ✅ Passar!</a:t>
            </a:r>
          </a:p>
          <a:p>
            <a:pPr lvl="1"/>
            <a:r>
              <a:t># Men testet SPARAR ALDRIG till databasen!</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**Vår integrationstestlösning:**</a:t>
            </a:r>
          </a:p>
          <a:p>
            <a:pPr>
              <a:defRPr sz="1200">
                <a:latin typeface="Courier New"/>
              </a:defRPr>
            </a:pP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tests/test_form_submission.py</a:t>
            </a:r>
          </a:p>
        </p:txBody>
      </p:sp>
      <p:sp>
        <p:nvSpPr>
          <p:cNvPr id="3" name="Content Placeholder 2"/>
          <p:cNvSpPr>
            <a:spLocks noGrp="1"/>
          </p:cNvSpPr>
          <p:nvPr>
            <p:ph idx="1"/>
          </p:nvPr>
        </p:nvSpPr>
        <p:spPr/>
        <p:txBody>
          <a:bodyPr wrap="square"/>
          <a:lstStyle/>
          <a:p>
            <a:r>
              <a:t>class TestNormalizationIntegration:</a:t>
            </a:r>
          </a:p>
          <a:p>
            <a:pPr lvl="1"/>
            <a:r>
              <a:t>def test_email_normalized_in_database(self, app, client):</a:t>
            </a:r>
          </a:p>
          <a:p>
            <a:pPr lvl="1"/>
            <a:r>
              <a:t>"""Uppercase email is stored as lowercase - FULL STACK TEST."""</a:t>
            </a:r>
          </a:p>
          <a:p>
            <a:pPr lvl="1"/>
            <a:r>
              <a:t># HTTP POST (Presentation layer)</a:t>
            </a:r>
          </a:p>
          <a:p>
            <a:pPr lvl="1"/>
            <a:r>
              <a:t>client.post("/subscribe/confirm", data={</a:t>
            </a:r>
          </a:p>
          <a:p>
            <a:pPr lvl="1"/>
            <a:r>
              <a:t>"email": "  TEST@EXAMPLE.COM  ",  # Versaler + whitespace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War Story #2: Säkerhetshålet**</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Detta test går genom **ALLA tre lager:**</a:t>
            </a:r>
          </a:p>
          <a:p>
            <a:pPr>
              <a:defRPr sz="1200">
                <a:latin typeface="Courier New"/>
              </a:defRPr>
            </a:pPr>
            <a:r>
              <a:t>1. **Presentation:** HTTP POST till `/subscribe/confirm`</a:t>
            </a:r>
          </a:p>
          <a:p>
            <a:pPr>
              <a:defRPr sz="1200">
                <a:latin typeface="Courier New"/>
              </a:defRPr>
            </a:pPr>
            <a:r>
              <a:t>2. **Business:** `SubscriptionService.normalize_email()`</a:t>
            </a:r>
          </a:p>
          <a:p>
            <a:pPr>
              <a:defRPr sz="1200">
                <a:latin typeface="Courier New"/>
              </a:defRPr>
            </a:pPr>
            <a:r>
              <a:t>3. **Data:** `SubscriberRepository.save()` + faktisk databas</a:t>
            </a:r>
          </a:p>
          <a:p>
            <a:pPr>
              <a:defRPr sz="1200">
                <a:latin typeface="Courier New"/>
              </a:defRPr>
            </a:pPr>
          </a:p>
          <a:p>
            <a:pPr>
              <a:defRPr sz="1200">
                <a:latin typeface="Courier New"/>
              </a:defRPr>
            </a:pPr>
            <a:r>
              <a:t>**Lärdom:** Enhetstester testar delar. Integrationstester testar att delarna fungerar **tillsammans**.</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r>
              <a:t>#### *När inaktiva användare blir en ticking bomb*</a:t>
            </a:r>
          </a:p>
          <a:p>
            <a:pPr>
              <a:defRPr sz="1200">
                <a:latin typeface="Courier New"/>
              </a:defRPr>
            </a:pPr>
          </a:p>
          <a:p>
            <a:pPr>
              <a:defRPr sz="1200">
                <a:latin typeface="Courier New"/>
              </a:defRPr>
            </a:pPr>
            <a:r>
              <a:t>**Scenariot:** Den sparkade anställde</a:t>
            </a:r>
          </a:p>
          <a:p>
            <a:pPr>
              <a:defRPr sz="1200">
                <a:latin typeface="Courier New"/>
              </a:defRPr>
            </a:pPr>
          </a:p>
          <a:p>
            <a:pPr>
              <a:defRPr sz="1200">
                <a:latin typeface="Courier New"/>
              </a:defRPr>
            </a:pPr>
            <a:r>
              <a:t>Ett företag sparkade en utvecklare på fredagen. IT-avdelningen glömde stänga av kontot i systemet. På måndagen loggade den före detta anställde in på adminsidan och raderade produktionsdatabasen.</a:t>
            </a:r>
          </a:p>
          <a:p>
            <a:pPr>
              <a:defRPr sz="1200">
                <a:latin typeface="Courier New"/>
              </a:defRPr>
            </a:pPr>
          </a:p>
          <a:p>
            <a:pPr>
              <a:defRPr sz="1200">
                <a:latin typeface="Courier New"/>
              </a:defRPr>
            </a:pPr>
            <a:r>
              <a:t>"Men vi hade lösenordsskydd!" sa CTO:n till styrelsen.</a:t>
            </a:r>
          </a:p>
          <a:p>
            <a:pPr>
              <a:defRPr sz="1200">
                <a:latin typeface="Courier New"/>
              </a:defRPr>
            </a:pPr>
          </a:p>
          <a:p>
            <a:pPr>
              <a:defRPr sz="1200">
                <a:latin typeface="Courier New"/>
              </a:defRPr>
            </a:pPr>
            <a:r>
              <a:t>**Black Hat-perspektiv:**</a:t>
            </a:r>
          </a:p>
          <a:p>
            <a:pPr>
              <a:defRPr sz="1200">
                <a:latin typeface="Courier New"/>
              </a:defRPr>
            </a:pPr>
          </a:p>
          <a:p>
            <a:pPr>
              <a:defRPr sz="1200">
                <a:latin typeface="Courier New"/>
              </a:defRPr>
            </a:pPr>
            <a:r>
              <a:t>Tänk som en attackerare:</a:t>
            </a:r>
          </a:p>
          <a:p>
            <a:pPr>
              <a:defRPr sz="1200">
                <a:latin typeface="Courier New"/>
              </a:defRPr>
            </a:pPr>
            <a:r>
              <a:t>1. Jag har ett gammalt konto (ex-anställd, praktikant, konsult)</a:t>
            </a:r>
          </a:p>
          <a:p>
            <a:pPr>
              <a:defRPr sz="1200">
                <a:latin typeface="Courier New"/>
              </a:defRPr>
            </a:pPr>
            <a:r>
              <a:t>2. Mitt lösenord funkar fortfarande</a:t>
            </a:r>
          </a:p>
          <a:p>
            <a:pPr>
              <a:defRPr sz="1200">
                <a:latin typeface="Courier New"/>
              </a:defRPr>
            </a:pPr>
            <a:r>
              <a:t>3. Systemet kollar bara: `if password_correct: login()`</a:t>
            </a:r>
          </a:p>
          <a:p>
            <a:pPr>
              <a:defRPr sz="1200">
                <a:latin typeface="Courier New"/>
              </a:defRPr>
            </a:pPr>
            <a:r>
              <a:t>4. **Ingen kollar `is_active`-flaggan**</a:t>
            </a:r>
          </a:p>
          <a:p>
            <a:pPr>
              <a:defRPr sz="1200">
                <a:latin typeface="Courier New"/>
              </a:defRPr>
            </a:pPr>
          </a:p>
          <a:p>
            <a:pPr>
              <a:defRPr sz="1200">
                <a:latin typeface="Courier New"/>
              </a:defRPr>
            </a:pPr>
            <a:r>
              <a:t>**Resultat:** Åtkomst till känslig data trots att jag borde vara borta.</a:t>
            </a:r>
          </a:p>
          <a:p>
            <a:pPr>
              <a:defRPr sz="1200">
                <a:latin typeface="Courier New"/>
              </a:defRPr>
            </a:pPr>
          </a:p>
          <a:p>
            <a:pPr>
              <a:defRPr sz="1200">
                <a:latin typeface="Courier New"/>
              </a:defRPr>
            </a:pPr>
            <a:r>
              <a:t>**Vår försvarslinje:**</a:t>
            </a:r>
          </a:p>
          <a:p>
            <a:pPr>
              <a:defRPr sz="1200">
                <a:latin typeface="Courier New"/>
              </a:defRPr>
            </a:p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tests/test_auth_service.py</a:t>
            </a:r>
          </a:p>
        </p:txBody>
      </p:sp>
      <p:sp>
        <p:nvSpPr>
          <p:cNvPr id="3" name="Content Placeholder 2"/>
          <p:cNvSpPr>
            <a:spLocks noGrp="1"/>
          </p:cNvSpPr>
          <p:nvPr>
            <p:ph idx="1"/>
          </p:nvPr>
        </p:nvSpPr>
        <p:spPr/>
        <p:txBody>
          <a:bodyPr wrap="square"/>
          <a:lstStyle/>
          <a:p>
            <a:r>
              <a:t>class TestInactiveUsers:</a:t>
            </a:r>
          </a:p>
          <a:p>
            <a:pPr lvl="1"/>
            <a:r>
              <a:t>def test_inactive_user_returns_none(self, app):</a:t>
            </a:r>
          </a:p>
          <a:p>
            <a:pPr lvl="1"/>
            <a:r>
              <a:t>"""Inactive user cannot authenticate even with correct password."""</a:t>
            </a:r>
          </a:p>
          <a:p>
            <a:pPr lvl="1"/>
            <a:r>
              <a:t>from application import db</a:t>
            </a:r>
          </a:p>
          <a:p>
            <a:pPr lvl="1"/>
            <a:r>
              <a:t># Skapa användare</a:t>
            </a:r>
          </a:p>
          <a:p>
            <a:pPr lvl="1"/>
            <a:r>
              <a:t>user = AuthService.create_user("admin@test.com", "password123")</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**Vad händer i koden?**</a:t>
            </a:r>
          </a:p>
          <a:p>
            <a:pPr>
              <a:defRPr sz="1200">
                <a:latin typeface="Courier New"/>
              </a:defRPr>
            </a:pP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application/services/auth_service.py</a:t>
            </a:r>
          </a:p>
        </p:txBody>
      </p:sp>
      <p:sp>
        <p:nvSpPr>
          <p:cNvPr id="3" name="Content Placeholder 2"/>
          <p:cNvSpPr>
            <a:spLocks noGrp="1"/>
          </p:cNvSpPr>
          <p:nvPr>
            <p:ph idx="1"/>
          </p:nvPr>
        </p:nvSpPr>
        <p:spPr/>
        <p:txBody>
          <a:bodyPr wrap="square"/>
          <a:lstStyle/>
          <a:p>
            <a:r>
              <a:t>@staticmethod</a:t>
            </a:r>
          </a:p>
          <a:p>
            <a:pPr lvl="1"/>
            <a:r>
              <a:t>def authenticate(email, password):</a:t>
            </a:r>
          </a:p>
          <a:p>
            <a:pPr lvl="1"/>
            <a:r>
              <a:t>user = User.query.filter_by(email=email).first()</a:t>
            </a:r>
          </a:p>
          <a:p>
            <a:pPr lvl="1"/>
            <a:r>
              <a:t># Tre villkor måste uppfyllas:</a:t>
            </a:r>
          </a:p>
          <a:p>
            <a:pPr lvl="1"/>
            <a:r>
              <a:t>if user and user.check_password(password) and user.is_active:</a:t>
            </a:r>
          </a:p>
          <a:p>
            <a:pPr lvl="1"/>
            <a:r>
              <a:t>return user  # ✅ Alla villkor OK</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Teori: Testisolering (Etch A Sketch)**</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Se den lilla `and user.is_active`? Det är skillnaden mellan att:</a:t>
            </a:r>
          </a:p>
          <a:p>
            <a:pPr>
              <a:defRPr sz="1200">
                <a:latin typeface="Courier New"/>
              </a:defRPr>
            </a:pPr>
            <a:r>
              <a:t>- ✅ Rädda företaget från dataintrång</a:t>
            </a:r>
          </a:p>
          <a:p>
            <a:pPr>
              <a:defRPr sz="1200">
                <a:latin typeface="Courier New"/>
              </a:defRPr>
            </a:pPr>
            <a:r>
              <a:t>- ❌ Förklara för styrelsen varför alla kunddata är borta</a:t>
            </a:r>
          </a:p>
          <a:p>
            <a:pPr>
              <a:defRPr sz="1200">
                <a:latin typeface="Courier New"/>
              </a:defRPr>
            </a:pPr>
          </a:p>
          <a:p>
            <a:pPr>
              <a:defRPr sz="1200">
                <a:latin typeface="Courier New"/>
              </a:defRPr>
            </a:pPr>
            <a:r>
              <a:t>**Lärdom:** Säkerhet handlar inte bara om vad du **bygger** - utan vad du **förhindrar**.</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r>
              <a:t>#### *Varför varje test måste vara en blank slate*</a:t>
            </a:r>
          </a:p>
          <a:p>
            <a:pPr>
              <a:defRPr sz="1200">
                <a:latin typeface="Courier New"/>
              </a:defRPr>
            </a:pPr>
          </a:p>
          <a:p>
            <a:pPr>
              <a:defRPr sz="1200">
                <a:latin typeface="Courier New"/>
              </a:defRPr>
            </a:pPr>
            <a:r>
              <a:t>**Liknelsen:**</a:t>
            </a:r>
          </a:p>
          <a:p>
            <a:pPr>
              <a:defRPr sz="1200">
                <a:latin typeface="Courier New"/>
              </a:defRPr>
            </a:pPr>
          </a:p>
          <a:p>
            <a:pPr>
              <a:defRPr sz="1200">
                <a:latin typeface="Courier New"/>
              </a:defRPr>
            </a:pPr>
            <a:r>
              <a:t>Tänk på en **Etch A Sketch** - den där ritplattan från barndomen där du skakar för att rensa skärmen.</a:t>
            </a:r>
          </a:p>
          <a:p>
            <a:pPr>
              <a:defRPr sz="1200">
                <a:latin typeface="Courier New"/>
              </a:defRPr>
            </a:pPr>
          </a:p>
          <a:p>
            <a:pPr>
              <a:defRPr sz="1200">
                <a:latin typeface="Courier New"/>
              </a:defRPr>
            </a:pPr>
            <a:r>
              <a:t>Varje test är som en teckning. Om du inte skakar plattan mellan teckningarna, startar nästa teckning med förra bildens linjer kvar. Snart blir allt en enda röra och du kan inte se vad som faktiskt är nytt.</a:t>
            </a:r>
          </a:p>
          <a:p>
            <a:pPr>
              <a:defRPr sz="1200">
                <a:latin typeface="Courier New"/>
              </a:defRPr>
            </a:pPr>
          </a:p>
          <a:p>
            <a:pPr>
              <a:defRPr sz="1200">
                <a:latin typeface="Courier New"/>
              </a:defRPr>
            </a:pPr>
            <a:r>
              <a:t>**I testsammanhang:**</a:t>
            </a:r>
          </a:p>
          <a:p>
            <a:pPr>
              <a:defRPr sz="1200">
                <a:latin typeface="Courier New"/>
              </a:defRPr>
            </a:pP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UTAN fixtures (delat state)</a:t>
            </a:r>
          </a:p>
        </p:txBody>
      </p:sp>
      <p:sp>
        <p:nvSpPr>
          <p:cNvPr id="3" name="Content Placeholder 2"/>
          <p:cNvSpPr>
            <a:spLocks noGrp="1"/>
          </p:cNvSpPr>
          <p:nvPr>
            <p:ph idx="1"/>
          </p:nvPr>
        </p:nvSpPr>
        <p:spPr/>
        <p:txBody>
          <a:bodyPr wrap="square"/>
          <a:lstStyle/>
          <a:p>
            <a:r>
              <a:t>def test_create_user():</a:t>
            </a:r>
          </a:p>
          <a:p>
            <a:pPr lvl="1"/>
            <a:r>
              <a:t>user = User(email="test@test.com")</a:t>
            </a:r>
          </a:p>
          <a:p>
            <a:pPr lvl="1"/>
            <a:r>
              <a:t>db.session.add(user)</a:t>
            </a:r>
          </a:p>
          <a:p>
            <a:pPr lvl="1"/>
            <a:r>
              <a:t>db.session.commit()</a:t>
            </a:r>
          </a:p>
          <a:p>
            <a:pPr lvl="1"/>
            <a:r>
              <a:t>assert User.query.count() == 1  # ✅ Passar första gången</a:t>
            </a:r>
          </a:p>
          <a:p>
            <a:pPr lvl="1"/>
            <a:r>
              <a:t>def test_empty_database():</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**MED fixtures (isolerat state):**</a:t>
            </a:r>
          </a:p>
          <a:p>
            <a:pPr>
              <a:defRPr sz="1200">
                <a:latin typeface="Courier New"/>
              </a:defRPr>
            </a:p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 är varje test isolerat</a:t>
            </a:r>
          </a:p>
        </p:txBody>
      </p:sp>
      <p:sp>
        <p:nvSpPr>
          <p:cNvPr id="3" name="Content Placeholder 2"/>
          <p:cNvSpPr>
            <a:spLocks noGrp="1"/>
          </p:cNvSpPr>
          <p:nvPr>
            <p:ph idx="1"/>
          </p:nvPr>
        </p:nvSpPr>
        <p:spPr/>
        <p:txBody>
          <a:bodyPr wrap="square"/>
          <a:lstStyle/>
          <a:p>
            <a:r>
              <a:t>def test_create_user(app):  # Får NY tom databas</a:t>
            </a:r>
          </a:p>
          <a:p>
            <a:pPr lvl="1"/>
            <a:r>
              <a:t>user = User(email="test@test.com")</a:t>
            </a:r>
          </a:p>
          <a:p>
            <a:pPr lvl="1"/>
            <a:r>
              <a:t>db.session.add(user)</a:t>
            </a:r>
          </a:p>
          <a:p>
            <a:pPr lvl="1"/>
            <a:r>
              <a:t>db.session.commit()</a:t>
            </a:r>
          </a:p>
          <a:p>
            <a:pPr lvl="1"/>
            <a:r>
              <a:t>assert User.query.count() == 1  # ✅</a:t>
            </a:r>
          </a:p>
          <a:p>
            <a:pPr lvl="1"/>
            <a:r>
              <a:t>def test_empty_database(app):  # Får NY tom databas</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**Tekniska detaljer:**</a:t>
            </a:r>
          </a:p>
          <a:p>
            <a:pPr>
              <a:defRPr sz="1200">
                <a:latin typeface="Courier New"/>
              </a:defRPr>
            </a:p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In-memory SQLite</a:t>
            </a:r>
          </a:p>
        </p:txBody>
      </p:sp>
      <p:sp>
        <p:nvSpPr>
          <p:cNvPr id="3" name="Content Placeholder 2"/>
          <p:cNvSpPr>
            <a:spLocks noGrp="1"/>
          </p:cNvSpPr>
          <p:nvPr>
            <p:ph idx="1"/>
          </p:nvPr>
        </p:nvSpPr>
        <p:spPr/>
        <p:txBody>
          <a:bodyPr wrap="square"/>
          <a:lstStyle/>
          <a:p>
            <a:r>
              <a:t>app.config['SQLALCHEMY_DATABASE_URI'] = 'sqlite:///:memory:'</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Teori: Säkerhetsrubriker (Posttjänstemannen)**</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**Fördelar:**</a:t>
            </a:r>
          </a:p>
          <a:p>
            <a:pPr>
              <a:defRPr sz="1200">
                <a:latin typeface="Courier New"/>
              </a:defRPr>
            </a:pPr>
            <a:r>
              <a:t>- 🚀 **Snabbt:** Allt i RAM, inget disk I/O</a:t>
            </a:r>
          </a:p>
          <a:p>
            <a:pPr>
              <a:defRPr sz="1200">
                <a:latin typeface="Courier New"/>
              </a:defRPr>
            </a:pPr>
            <a:r>
              <a:t>- 🧹 **Rent:** Automatiskt raderat vid process-slut</a:t>
            </a:r>
          </a:p>
          <a:p>
            <a:pPr>
              <a:defRPr sz="1200">
                <a:latin typeface="Courier New"/>
              </a:defRPr>
            </a:pPr>
            <a:r>
              <a:t>- 🔒 **Isolerat:** Kan inte påverka andra tester eller produktion</a:t>
            </a:r>
          </a:p>
          <a:p>
            <a:pPr>
              <a:defRPr sz="1200">
                <a:latin typeface="Courier New"/>
              </a:defRPr>
            </a:pPr>
            <a:r>
              <a:t>- 🎯 **Deterministiskt:** Samma resultat varje gång</a:t>
            </a:r>
          </a:p>
          <a:p>
            <a:pPr>
              <a:defRPr sz="1200">
                <a:latin typeface="Courier New"/>
              </a:defRPr>
            </a:pPr>
          </a:p>
          <a:p>
            <a:pPr>
              <a:defRPr sz="1200">
                <a:latin typeface="Courier New"/>
              </a:defRPr>
            </a:pPr>
            <a:r>
              <a:t>**Lärdom:** Tester måste vara **deterministiska** (samma resultat varje gång) och **isolerade** (inte påverka varandra). Fixtures ger oss det automatiskt.</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r>
              <a:t>#### *Varför webbläsaren behöver instruktioner*</a:t>
            </a:r>
          </a:p>
          <a:p>
            <a:pPr>
              <a:defRPr sz="1200">
                <a:latin typeface="Courier New"/>
              </a:defRPr>
            </a:pPr>
          </a:p>
          <a:p>
            <a:pPr>
              <a:defRPr sz="1200">
                <a:latin typeface="Courier New"/>
              </a:defRPr>
            </a:pPr>
            <a:r>
              <a:t>**Liknelsen:**</a:t>
            </a:r>
          </a:p>
          <a:p>
            <a:pPr>
              <a:defRPr sz="1200">
                <a:latin typeface="Courier New"/>
              </a:defRPr>
            </a:pPr>
          </a:p>
          <a:p>
            <a:pPr>
              <a:defRPr sz="1200">
                <a:latin typeface="Courier New"/>
              </a:defRPr>
            </a:pPr>
            <a:r>
              <a:t>Tänk dig att du skickar ett paket märkt **"GLAS - FRAGILT"**. Posttjänstemannen ser etiketten och hanterar det varsamt.</a:t>
            </a:r>
          </a:p>
          <a:p>
            <a:pPr>
              <a:defRPr sz="1200">
                <a:latin typeface="Courier New"/>
              </a:defRPr>
            </a:pPr>
          </a:p>
          <a:p>
            <a:pPr>
              <a:defRPr sz="1200">
                <a:latin typeface="Courier New"/>
              </a:defRPr>
            </a:pPr>
            <a:r>
              <a:t>Nu tänk om någon skriver "Böcker" på utsidan, men inuti ligger glas? Posttjänstemannen kastar paketet → det går sönder.</a:t>
            </a:r>
          </a:p>
          <a:p>
            <a:pPr>
              <a:defRPr sz="1200">
                <a:latin typeface="Courier New"/>
              </a:defRPr>
            </a:pPr>
          </a:p>
          <a:p>
            <a:pPr>
              <a:defRPr sz="1200">
                <a:latin typeface="Courier New"/>
              </a:defRPr>
            </a:pPr>
            <a:r>
              <a:t>Vems fel? **Ditt** - för du ljög om innehållet.</a:t>
            </a:r>
          </a:p>
          <a:p>
            <a:pPr>
              <a:defRPr sz="1200">
                <a:latin typeface="Courier New"/>
              </a:defRPr>
            </a:pPr>
          </a:p>
          <a:p>
            <a:pPr>
              <a:defRPr sz="1200">
                <a:latin typeface="Courier New"/>
              </a:defRPr>
            </a:pPr>
            <a:r>
              <a:t>**HTTP Security Headers:**</a:t>
            </a:r>
          </a:p>
          <a:p>
            <a:pPr>
              <a:defRPr sz="1200">
                <a:latin typeface="Courier New"/>
              </a:defRPr>
            </a:pPr>
          </a:p>
          <a:p>
            <a:pPr>
              <a:defRPr sz="1200">
                <a:latin typeface="Courier New"/>
              </a:defRPr>
            </a:pPr>
            <a:r>
              <a:t>När din server skickar en sida till webbläsaren, skickar den också "etiketter":</a:t>
            </a:r>
          </a:p>
          <a:p>
            <a:pPr>
              <a:defRPr sz="1200">
                <a:latin typeface="Courier New"/>
              </a:defRPr>
            </a:pP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application/__init__.py</a:t>
            </a:r>
          </a:p>
        </p:txBody>
      </p:sp>
      <p:sp>
        <p:nvSpPr>
          <p:cNvPr id="3" name="Content Placeholder 2"/>
          <p:cNvSpPr>
            <a:spLocks noGrp="1"/>
          </p:cNvSpPr>
          <p:nvPr>
            <p:ph idx="1"/>
          </p:nvPr>
        </p:nvSpPr>
        <p:spPr/>
        <p:txBody>
          <a:bodyPr wrap="square"/>
          <a:lstStyle/>
          <a:p>
            <a:r>
              <a:t>@app.after_request</a:t>
            </a:r>
          </a:p>
          <a:p>
            <a:pPr lvl="1"/>
            <a:r>
              <a:t>def set_security_headers(response):</a:t>
            </a:r>
          </a:p>
          <a:p>
            <a:pPr lvl="1"/>
            <a:r>
              <a:t>response.headers['X-Content-Type-Options'] = 'nosniff'</a:t>
            </a:r>
          </a:p>
          <a:p>
            <a:pPr lvl="1"/>
            <a:r>
              <a:t>response.headers['X-Frame-Options'] = 'SAMEORIGIN'</a:t>
            </a:r>
          </a:p>
          <a:p>
            <a:pPr lvl="1"/>
            <a:r>
              <a:t>response.headers['X-XSS-Protection'] = '1; mode=block'</a:t>
            </a:r>
          </a:p>
          <a:p>
            <a:pPr lvl="1"/>
            <a:r>
              <a:t>response.headers['Referrer-Policy'] = 'strict-origin-when-cross-origin'</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**Vad betyder `X-Content-Type-Options: nosniff`?**</a:t>
            </a:r>
          </a:p>
          <a:p>
            <a:pPr>
              <a:defRPr sz="1200">
                <a:latin typeface="Courier New"/>
              </a:defRPr>
            </a:pPr>
          </a:p>
          <a:p>
            <a:pPr>
              <a:defRPr sz="1200">
                <a:latin typeface="Courier New"/>
              </a:defRPr>
            </a:pPr>
            <a:r>
              <a:t>**UTAN denna header:**</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tests/test_security.py</a:t>
            </a:r>
          </a:p>
        </p:txBody>
      </p:sp>
      <p:sp>
        <p:nvSpPr>
          <p:cNvPr id="3" name="Content Placeholder 2"/>
          <p:cNvSpPr>
            <a:spLocks noGrp="1"/>
          </p:cNvSpPr>
          <p:nvPr>
            <p:ph idx="1"/>
          </p:nvPr>
        </p:nvSpPr>
        <p:spPr/>
        <p:txBody>
          <a:bodyPr wrap="square"/>
          <a:lstStyle/>
          <a:p>
            <a:r>
              <a:t>class TestSecurityHeaders:</a:t>
            </a:r>
          </a:p>
          <a:p>
            <a:pPr lvl="1"/>
            <a:r>
              <a:t>def test_content_type_options(self, client):</a:t>
            </a:r>
          </a:p>
          <a:p>
            <a:pPr lvl="1"/>
            <a:r>
              <a:t>"""X-Content-Type-Options header prevents MIME sniffing."""</a:t>
            </a:r>
          </a:p>
          <a:p>
            <a:pPr lvl="1"/>
            <a:r>
              <a:t>response = client.get("/")</a:t>
            </a:r>
          </a:p>
          <a:p>
            <a:pPr lvl="1"/>
            <a:r>
              <a:t>assert response.headers.get("X-Content-Type-Options") == "nosniff"</a:t>
            </a:r>
          </a:p>
          <a:p>
            <a:pPr lvl="1"/>
            <a:r>
              <a:t>def test_frame_options(self, client):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Gotcha #1: CSRF-paradoxen**</a:t>
            </a:r>
          </a:p>
        </p:txBody>
      </p:sp>
      <p:sp>
        <p:nvSpPr>
          <p:cNvPr id="3" name="Content Placeholder 2"/>
          <p:cNvSpPr>
            <a:spLocks noGrp="1"/>
          </p:cNvSpPr>
          <p:nvPr>
            <p:ph idx="1"/>
          </p:nvPr>
        </p:nvSpPr>
        <p:spPr/>
        <p:txBody>
          <a:bodyPr wrap="square"/>
          <a:lstStyle/>
          <a:p>
            <a:r>
              <a:t>&lt;!-- evil.com --&gt;</a:t>
            </a:r>
          </a:p>
          <a:p>
            <a:pPr lvl="1"/>
            <a:r>
              <a:t>&lt;img src="https://yourbank.com/transfer?to=hacker&amp;amount=10000"&gt;</a:t>
            </a:r>
          </a:p>
          <a:p>
            <a:pPr lvl="1"/>
            <a:r>
              <a:t>&lt;form method="POST" action="/subscribe/confirm"&gt;</a:t>
            </a:r>
          </a:p>
          <a:p>
            <a:pPr lvl="1"/>
            <a:r>
              <a:t>&lt;input type="hidden" name="csrf_token" value="Xf8d92kLm3..."&gt;</a:t>
            </a:r>
          </a:p>
          <a:p>
            <a:pPr lvl="1"/>
            <a:r>
              <a:t>&lt;input type="email" name="email"&gt;</a:t>
            </a:r>
          </a:p>
          <a:p>
            <a:pPr lvl="1"/>
            <a:r>
              <a:t>&lt;button type="submit"&gt;Prenumerera&lt;/button&gt;</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**Andra säkerhetsrubriker:**</a:t>
            </a:r>
          </a:p>
          <a:p>
            <a:pPr>
              <a:defRPr sz="1200">
                <a:latin typeface="Courier New"/>
              </a:defRPr>
            </a:pPr>
          </a:p>
          <a:p>
            <a:pPr>
              <a:defRPr sz="1200">
                <a:latin typeface="Courier New"/>
              </a:defRPr>
            </a:pPr>
            <a:r>
              <a:t>| Header | Syfte | Attack som förhindras |</a:t>
            </a:r>
          </a:p>
          <a:p>
            <a:pPr>
              <a:defRPr sz="1200">
                <a:latin typeface="Courier New"/>
              </a:defRPr>
            </a:pPr>
            <a:r>
              <a:t>|--------|-------|----------------------|</a:t>
            </a:r>
          </a:p>
          <a:p>
            <a:pPr>
              <a:defRPr sz="1200">
                <a:latin typeface="Courier New"/>
              </a:defRPr>
            </a:pPr>
            <a:r>
              <a:t>| `X-Content-Type-Options: nosniff` | Förhindra MIME-sniffing | Upload-baserad XSS |</a:t>
            </a:r>
          </a:p>
          <a:p>
            <a:pPr>
              <a:defRPr sz="1200">
                <a:latin typeface="Courier New"/>
              </a:defRPr>
            </a:pPr>
            <a:r>
              <a:t>| `X-Frame-Options: SAMEORIGIN` | Blockera iframes från andra domäner | Clickjacking |</a:t>
            </a:r>
          </a:p>
          <a:p>
            <a:pPr>
              <a:defRPr sz="1200">
                <a:latin typeface="Courier New"/>
              </a:defRPr>
            </a:pPr>
            <a:r>
              <a:t>| `X-XSS-Protection: 1; mode=block` | Aktivera webbläsarens XSS-filter | Reflected XSS |</a:t>
            </a:r>
          </a:p>
          <a:p>
            <a:pPr>
              <a:defRPr sz="1200">
                <a:latin typeface="Courier New"/>
              </a:defRPr>
            </a:pPr>
            <a:r>
              <a:t>| `Referrer-Policy: strict-origin-when-cross-origin` | Kontrollera Referer-header | Information leakage |</a:t>
            </a:r>
          </a:p>
          <a:p>
            <a:pPr>
              <a:defRPr sz="1200">
                <a:latin typeface="Courier New"/>
              </a:defRPr>
            </a:pPr>
            <a:r>
              <a:t>| `Strict-Transport-Security: max-age=31536000` | Forcera HTTPS i 1 år | Man-in-the-middle |</a:t>
            </a:r>
          </a:p>
          <a:p>
            <a:pPr>
              <a:defRPr sz="1200">
                <a:latin typeface="Courier New"/>
              </a:defRPr>
            </a:pPr>
          </a:p>
          <a:p>
            <a:pPr>
              <a:defRPr sz="1200">
                <a:latin typeface="Courier New"/>
              </a:defRPr>
            </a:pPr>
            <a:r>
              <a:t>**Lärdom:** Säkerhetsrubriker är instruktioner till webbläsaren: *"Lita inte på din gissning - lita på vad jag säger."*</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r>
              <a:t>#### *Varför vi stänger av CSRF i tester (och varför det är OK)*</a:t>
            </a:r>
          </a:p>
          <a:p>
            <a:pPr>
              <a:defRPr sz="1200">
                <a:latin typeface="Courier New"/>
              </a:defRPr>
            </a:pPr>
          </a:p>
          <a:p>
            <a:pPr>
              <a:defRPr sz="1200">
                <a:latin typeface="Courier New"/>
              </a:defRPr>
            </a:pPr>
            <a:r>
              <a:t>**Dialogen: Junior vs Senior Developer**</a:t>
            </a:r>
          </a:p>
          <a:p>
            <a:pPr>
              <a:defRPr sz="1200">
                <a:latin typeface="Courier New"/>
              </a:defRPr>
            </a:pPr>
          </a:p>
          <a:p>
            <a:pPr>
              <a:defRPr sz="1200">
                <a:latin typeface="Courier New"/>
              </a:defRPr>
            </a:pPr>
            <a:r>
              <a:t>**Junior:** "Jag är förvirrad. I `test_security.py` testar vi att CSRF är **avstängt** i testläge. Men CSRF-skydd är väl viktigt för säkerhet? Varför testar vi inte att det är **på**?"</a:t>
            </a:r>
          </a:p>
          <a:p>
            <a:pPr>
              <a:defRPr sz="1200">
                <a:latin typeface="Courier New"/>
              </a:defRPr>
            </a:pPr>
          </a:p>
          <a:p>
            <a:pPr>
              <a:defRPr sz="1200">
                <a:latin typeface="Courier New"/>
              </a:defRPr>
            </a:pPr>
            <a:r>
              <a:t>**Senior:** "Utmärkt fråga! Låt mig förklara med en analogi. Vad gör Volvo när de testar bilbälten?"</a:t>
            </a:r>
          </a:p>
          <a:p>
            <a:pPr>
              <a:defRPr sz="1200">
                <a:latin typeface="Courier New"/>
              </a:defRPr>
            </a:pPr>
          </a:p>
          <a:p>
            <a:pPr>
              <a:defRPr sz="1200">
                <a:latin typeface="Courier New"/>
              </a:defRPr>
            </a:pPr>
            <a:r>
              <a:t>**Junior:** "De testar att bältet håller i en krasch?"</a:t>
            </a:r>
          </a:p>
          <a:p>
            <a:pPr>
              <a:defRPr sz="1200">
                <a:latin typeface="Courier New"/>
              </a:defRPr>
            </a:pPr>
          </a:p>
          <a:p>
            <a:pPr>
              <a:defRPr sz="1200">
                <a:latin typeface="Courier New"/>
              </a:defRPr>
            </a:pPr>
            <a:r>
              <a:t>**Senior:** "Exakt. Men testar de också att bältet är fastspänt i stolen? Att stolen är skruvad i golvet? Att golvet är svetsat i chassit?"</a:t>
            </a:r>
          </a:p>
          <a:p>
            <a:pPr>
              <a:defRPr sz="1200">
                <a:latin typeface="Courier New"/>
              </a:defRPr>
            </a:pPr>
          </a:p>
          <a:p>
            <a:pPr>
              <a:defRPr sz="1200">
                <a:latin typeface="Courier New"/>
              </a:defRPr>
            </a:pPr>
            <a:r>
              <a:t>**Junior:** "Nej... det testas separat i andra tester."</a:t>
            </a:r>
          </a:p>
          <a:p>
            <a:pPr>
              <a:defRPr sz="1200">
                <a:latin typeface="Courier New"/>
              </a:defRPr>
            </a:pPr>
          </a:p>
          <a:p>
            <a:pPr>
              <a:defRPr sz="1200">
                <a:latin typeface="Courier New"/>
              </a:defRPr>
            </a:pPr>
            <a:r>
              <a:t>**Senior:** "Precis! Vi testar **vår kod**, inte **Flask-WTF:s kod**. Flask-WTF är redan testat av dess utvecklare."</a:t>
            </a:r>
          </a:p>
          <a:p>
            <a:pPr>
              <a:defRPr sz="1200">
                <a:latin typeface="Courier New"/>
              </a:defRPr>
            </a:pPr>
          </a:p>
          <a:p>
            <a:pPr>
              <a:defRPr sz="1200">
                <a:latin typeface="Courier New"/>
              </a:defRPr>
            </a:pPr>
            <a:r>
              <a:t>**Vad är CSRF?**</a:t>
            </a:r>
          </a:p>
          <a:p>
            <a:pPr>
              <a:defRPr sz="1200">
                <a:latin typeface="Courier New"/>
              </a:defRPr>
            </a:pPr>
          </a:p>
          <a:p>
            <a:pPr>
              <a:defRPr sz="1200">
                <a:latin typeface="Courier New"/>
              </a:defRPr>
            </a:pPr>
            <a:r>
              <a:t>**Cross-Site Request Forgery** - en attack där en illvillig sida lurar dig att skicka requests:</a:t>
            </a:r>
          </a:p>
          <a:p>
            <a:pPr>
              <a:defRPr sz="1200">
                <a:latin typeface="Courier New"/>
              </a:defRPr>
            </a:p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config.py</a:t>
            </a:r>
          </a:p>
        </p:txBody>
      </p:sp>
      <p:sp>
        <p:nvSpPr>
          <p:cNvPr id="3" name="Content Placeholder 2"/>
          <p:cNvSpPr>
            <a:spLocks noGrp="1"/>
          </p:cNvSpPr>
          <p:nvPr>
            <p:ph idx="1"/>
          </p:nvPr>
        </p:nvSpPr>
        <p:spPr/>
        <p:txBody>
          <a:bodyPr wrap="square"/>
          <a:lstStyle/>
          <a:p>
            <a:r>
              <a:t>class TestingConfig:</a:t>
            </a:r>
          </a:p>
          <a:p>
            <a:pPr lvl="1"/>
            <a:r>
              <a:t>WTF_CSRF_ENABLED = False  # Stäng av CSRF i tester</a:t>
            </a:r>
          </a:p>
          <a:p>
            <a:pPr lvl="1"/>
            <a:r>
              <a:t>def test_form_submission(client):</a:t>
            </a:r>
          </a:p>
          <a:p>
            <a:pPr lvl="1"/>
            <a:r>
              <a:t>response = client.post("/subscribe/confirm", data={</a:t>
            </a:r>
          </a:p>
          <a:p>
            <a:pPr lvl="1"/>
            <a:r>
              <a:t>"email": "test@example.com",</a:t>
            </a:r>
          </a:p>
          <a:p>
            <a:pPr lvl="1"/>
            <a:r>
              <a:t>"csrf_token": ???  # VAR FÅR VI TOKEN?!</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**OM CSRF SKULLE VARA PÅ:**</a:t>
            </a:r>
          </a:p>
          <a:p>
            <a:pPr>
              <a:defRPr sz="1200">
                <a:latin typeface="Courier New"/>
              </a:defRPr>
            </a:pP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tests/test_security.py</a:t>
            </a:r>
          </a:p>
        </p:txBody>
      </p:sp>
      <p:sp>
        <p:nvSpPr>
          <p:cNvPr id="3" name="Content Placeholder 2"/>
          <p:cNvSpPr>
            <a:spLocks noGrp="1"/>
          </p:cNvSpPr>
          <p:nvPr>
            <p:ph idx="1"/>
          </p:nvPr>
        </p:nvSpPr>
        <p:spPr/>
        <p:txBody>
          <a:bodyPr wrap="square"/>
          <a:lstStyle/>
          <a:p>
            <a:r>
              <a:t>class TestCSRFProtection:</a:t>
            </a:r>
          </a:p>
          <a:p>
            <a:pPr lvl="1"/>
            <a:r>
              <a:t>def test_csrf_disabled_in_testing(self, app):</a:t>
            </a:r>
          </a:p>
          <a:p>
            <a:pPr lvl="1"/>
            <a:r>
              <a:t>"""CSRF is disabled in test configuration for convenience."""</a:t>
            </a:r>
          </a:p>
          <a:p>
            <a:pPr lvl="1"/>
            <a:r>
              <a:t>assert app.config.get("WTF_CSRF_ENABLED") is False</a:t>
            </a:r>
          </a:p>
          <a:p>
            <a:pPr lvl="1"/>
            <a:r>
              <a:t>def test_form_post_works_without_csrf_in_testing(self, client):</a:t>
            </a:r>
          </a:p>
          <a:p>
            <a:pPr lvl="1"/>
            <a:r>
              <a:t>"""Form POST succeeds without CSRF token in testing mode."""</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**I produktion:**</a:t>
            </a:r>
          </a:p>
          <a:p>
            <a:pPr>
              <a:defRPr sz="1200">
                <a:latin typeface="Courier New"/>
              </a:defRPr>
            </a:pP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application/__init__.py</a:t>
            </a:r>
          </a:p>
        </p:txBody>
      </p:sp>
      <p:sp>
        <p:nvSpPr>
          <p:cNvPr id="3" name="Content Placeholder 2"/>
          <p:cNvSpPr>
            <a:spLocks noGrp="1"/>
          </p:cNvSpPr>
          <p:nvPr>
            <p:ph idx="1"/>
          </p:nvPr>
        </p:nvSpPr>
        <p:spPr/>
        <p:txBody>
          <a:bodyPr wrap="square"/>
          <a:lstStyle/>
          <a:p>
            <a:r>
              <a:t>if env == "production":</a:t>
            </a:r>
          </a:p>
          <a:p>
            <a:pPr lvl="1"/>
            <a:r>
              <a:t>app.config['WTF_CSRF_ENABLED'] = True  # ✅ På i produktion!</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Gotcha #2: 302 vs 401 (UX över standarder)**</a:t>
            </a:r>
          </a:p>
        </p:txBody>
      </p:sp>
      <p:sp>
        <p:nvSpPr>
          <p:cNvPr id="3" name="Content Placeholder 2"/>
          <p:cNvSpPr>
            <a:spLocks noGrp="1"/>
          </p:cNvSpPr>
          <p:nvPr>
            <p:ph idx="1"/>
          </p:nvPr>
        </p:nvSpPr>
        <p:spPr/>
        <p:txBody>
          <a:bodyPr wrap="square"/>
          <a:lstStyle/>
          <a:p>
            <a:r>
              <a:t>def test_admin_dashboard_redirects(self, client):</a:t>
            </a:r>
          </a:p>
          <a:p>
            <a:pPr lvl="1"/>
            <a:r>
              <a:t>"""Unauthenticated access to admin dashboard redirects to login."""</a:t>
            </a:r>
          </a:p>
          <a:p>
            <a:pPr lvl="1"/>
            <a:r>
              <a:t>response = client.get("/admin/dashboard")</a:t>
            </a:r>
          </a:p>
          <a:p>
            <a:pPr lvl="1"/>
            <a:r>
              <a:t>assert response.status_code == 302  # Varför inte 401/403?</a:t>
            </a:r>
          </a:p>
          <a:p>
            <a:pPr lvl="1"/>
            <a:r>
              <a:t>User: *klickar på /admin/dashboard*</a:t>
            </a:r>
          </a:p>
          <a:p>
            <a:pPr lvl="1"/>
            <a:r>
              <a:t>Browser:</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**Lärdom:** Vi testar inte webbläsarens funktioner eller bibliotekens kod. Vi testar att **vår logik** fungerar. CSRF är på i produktion - det räcker.</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r>
              <a:t>#### *Varför vi bryr oss om användare, inte HTTP-koder*</a:t>
            </a:r>
          </a:p>
          <a:p>
            <a:pPr>
              <a:defRPr sz="1200">
                <a:latin typeface="Courier New"/>
              </a:defRPr>
            </a:pPr>
          </a:p>
          <a:p>
            <a:pPr>
              <a:defRPr sz="1200">
                <a:latin typeface="Courier New"/>
              </a:defRPr>
            </a:pPr>
            <a:r>
              <a:t>**Studentfrågan:**</a:t>
            </a:r>
          </a:p>
          <a:p>
            <a:pPr>
              <a:defRPr sz="1200">
                <a:latin typeface="Courier New"/>
              </a:defRPr>
            </a:pPr>
          </a:p>
          <a:p>
            <a:pPr>
              <a:defRPr sz="1200">
                <a:latin typeface="Courier New"/>
              </a:defRPr>
            </a:pPr>
            <a:r>
              <a:t>"I `test_protected_routes.py` försöker vi nå `/admin/dashboard` utan att vara inloggade. Jag förväntade mig `403 Forbidden` eller `401 Unauthorized`. Varför assertar vi `302 Redirect` istället?"</a:t>
            </a:r>
          </a:p>
          <a:p>
            <a:pPr>
              <a:defRPr sz="1200">
                <a:latin typeface="Courier New"/>
              </a:defRPr>
            </a:p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application/admin/routes.py</a:t>
            </a:r>
          </a:p>
        </p:txBody>
      </p:sp>
      <p:sp>
        <p:nvSpPr>
          <p:cNvPr id="3" name="Content Placeholder 2"/>
          <p:cNvSpPr>
            <a:spLocks noGrp="1"/>
          </p:cNvSpPr>
          <p:nvPr>
            <p:ph idx="1"/>
          </p:nvPr>
        </p:nvSpPr>
        <p:spPr/>
        <p:txBody>
          <a:bodyPr wrap="square"/>
          <a:lstStyle/>
          <a:p>
            <a:r>
              <a:t>from flask_login import login_required</a:t>
            </a:r>
          </a:p>
          <a:p>
            <a:pPr lvl="1"/>
            <a:r>
              <a:t>@admin_bp.route('/dashboard')</a:t>
            </a:r>
          </a:p>
          <a:p>
            <a:pPr lvl="1"/>
            <a:r>
              <a:t>@login_required  # Flask-Login decorator</a:t>
            </a:r>
          </a:p>
          <a:p>
            <a:pPr lvl="1"/>
            <a:r>
              <a:t>def dashboard():</a:t>
            </a:r>
          </a:p>
          <a:p>
            <a:pPr lvl="1"/>
            <a:r>
              <a:t># Om användaren INTE är inloggad:</a:t>
            </a:r>
          </a:p>
          <a:p>
            <a:pPr lvl="1"/>
            <a:r>
              <a:t># Flask-Login gör automatiskt redirect till login_manager.login_view</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**Flask-Login config:**</a:t>
            </a:r>
          </a:p>
          <a:p>
            <a:pPr>
              <a:defRPr sz="1200">
                <a:latin typeface="Courier New"/>
              </a:defRPr>
            </a:p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application/__init__.py</a:t>
            </a:r>
          </a:p>
        </p:txBody>
      </p:sp>
      <p:sp>
        <p:nvSpPr>
          <p:cNvPr id="3" name="Content Placeholder 2"/>
          <p:cNvSpPr>
            <a:spLocks noGrp="1"/>
          </p:cNvSpPr>
          <p:nvPr>
            <p:ph idx="1"/>
          </p:nvPr>
        </p:nvSpPr>
        <p:spPr/>
        <p:txBody>
          <a:bodyPr wrap="square"/>
          <a:lstStyle/>
          <a:p>
            <a:r>
              <a:t>login_manager.login_view = 'admin_bp.login'  # Vart ska användaren skickas?</a:t>
            </a:r>
          </a:p>
          <a:p>
            <a:pPr lvl="1"/>
            <a:r>
              <a:t>Användaren försöker: /admin/dashboard</a:t>
            </a:r>
          </a:p>
          <a:p>
            <a:pPr lvl="1"/>
            <a:r>
              <a:t>↓</a:t>
            </a:r>
          </a:p>
          <a:p>
            <a:pPr lvl="1"/>
            <a:r>
              <a:t>Flask-Login redirectar: /admin/login?next=/admin/dashboard</a:t>
            </a:r>
          </a:p>
          <a:p>
            <a:pPr lvl="1"/>
            <a:r>
              <a:t>↓</a:t>
            </a:r>
          </a:p>
          <a:p>
            <a:pPr lvl="1"/>
            <a:r>
              <a:t>Användaren loggar in</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**Med `?next` parameter:**</a:t>
            </a:r>
          </a:p>
          <a:p>
            <a:pPr>
              <a:defRPr sz="1200">
                <a:latin typeface="Courier New"/>
              </a:defRPr>
            </a:pPr>
          </a:p>
          <a:p>
            <a:pPr>
              <a:defRPr sz="1200">
                <a:latin typeface="Courier New"/>
              </a:defRPr>
            </a:pPr>
            <a:r>
              <a:t>Flask-Login är smart nog att komma ihåg **var användaren försökte gå**:</a:t>
            </a:r>
          </a:p>
          <a:p>
            <a:pPr>
              <a:defRPr sz="1200">
                <a:latin typeface="Courier New"/>
              </a:defRPr>
            </a:pP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tests/test_protected_routes.py</a:t>
            </a:r>
          </a:p>
        </p:txBody>
      </p:sp>
      <p:sp>
        <p:nvSpPr>
          <p:cNvPr id="3" name="Content Placeholder 2"/>
          <p:cNvSpPr>
            <a:spLocks noGrp="1"/>
          </p:cNvSpPr>
          <p:nvPr>
            <p:ph idx="1"/>
          </p:nvPr>
        </p:nvSpPr>
        <p:spPr/>
        <p:txBody>
          <a:bodyPr wrap="square"/>
          <a:lstStyle/>
          <a:p>
            <a:r>
              <a:t>class TestUnauthenticatedAccess:</a:t>
            </a:r>
          </a:p>
          <a:p>
            <a:pPr lvl="1"/>
            <a:r>
              <a:t>def test_admin_dashboard_redirects(self, client):</a:t>
            </a:r>
          </a:p>
          <a:p>
            <a:pPr lvl="1"/>
            <a:r>
              <a:t>"""Unauthenticated access to admin dashboard redirects to login."""</a:t>
            </a:r>
          </a:p>
          <a:p>
            <a:pPr lvl="1"/>
            <a:r>
              <a:t>response = client.get("/admin/dashboard")</a:t>
            </a:r>
          </a:p>
          <a:p>
            <a:pPr lvl="1"/>
            <a:r>
              <a:t>assert response.status_code == 302</a:t>
            </a:r>
          </a:p>
          <a:p>
            <a:pPr lvl="1"/>
            <a:r>
              <a:t>assert "/admin/login" in response.headers["Location"]</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**Efter inloggning:**</a:t>
            </a:r>
          </a:p>
          <a:p>
            <a:pPr>
              <a:defRPr sz="1200">
                <a:latin typeface="Courier New"/>
              </a:defRPr>
            </a:p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tests/test_protected_routes.py</a:t>
            </a:r>
          </a:p>
        </p:txBody>
      </p:sp>
      <p:sp>
        <p:nvSpPr>
          <p:cNvPr id="3" name="Content Placeholder 2"/>
          <p:cNvSpPr>
            <a:spLocks noGrp="1"/>
          </p:cNvSpPr>
          <p:nvPr>
            <p:ph idx="1"/>
          </p:nvPr>
        </p:nvSpPr>
        <p:spPr/>
        <p:txBody>
          <a:bodyPr wrap="square"/>
          <a:lstStyle/>
          <a:p>
            <a:r>
              <a:t>class TestAuthenticatedAccess:</a:t>
            </a:r>
          </a:p>
          <a:p>
            <a:pPr lvl="1"/>
            <a:r>
              <a:t>def test_admin_dashboard_accessible(self, authenticated_client):</a:t>
            </a:r>
          </a:p>
          <a:p>
            <a:pPr lvl="1"/>
            <a:r>
              <a:t>"""Authenticated user can view dashboard."""</a:t>
            </a:r>
          </a:p>
          <a:p>
            <a:pPr lvl="1"/>
            <a:r>
              <a:t>response = authenticated_client.get("/admin/dashboard")</a:t>
            </a:r>
          </a:p>
          <a:p>
            <a:pPr lvl="1"/>
            <a:r>
              <a:t>assert response.status_code == 200  # Nu fungerar det!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Test Runner &amp; Documentation**</a:t>
            </a:r>
          </a:p>
        </p:txBody>
      </p:sp>
      <p:sp>
        <p:nvSpPr>
          <p:cNvPr id="3" name="Content Placeholder 2"/>
          <p:cNvSpPr>
            <a:spLocks noGrp="1"/>
          </p:cNvSpPr>
          <p:nvPr>
            <p:ph idx="1"/>
          </p:nvPr>
        </p:nvSpPr>
        <p:spPr/>
        <p:txBody>
          <a:bodyPr wrap="square"/>
          <a:lstStyle/>
          <a:p>
            <a:r>
              <a:t>#!/usr/bin/env python</a:t>
            </a:r>
          </a:p>
          <a:p>
            <a:pPr lvl="1"/>
            <a:r>
              <a:t>"""Test runner script for Demo-G6 project."""</a:t>
            </a:r>
          </a:p>
          <a:p>
            <a:pPr lvl="1"/>
            <a:r>
              <a:t>import subprocess</a:t>
            </a:r>
          </a:p>
          <a:p>
            <a:pPr lvl="1"/>
            <a:r>
              <a:t>import sys</a:t>
            </a:r>
          </a:p>
          <a:p>
            <a:pPr lvl="1"/>
            <a:r>
              <a:t>def run_tests(verbose=False, coverage=False):</a:t>
            </a:r>
          </a:p>
          <a:p>
            <a:pPr lvl="1"/>
            <a:r>
              <a:t>"""Run the test suite with pytest."""</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**Lärdom:** HTTP-standarder är **riktlinjer**, inte lagar. **User Experience (UX)** trumpfar dogmatism. En redirect + login-formulär är bättre än ett kryptiskt felmeddelande.</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a:p>
            <a:pPr>
              <a:defRPr sz="1200">
                <a:latin typeface="Courier New"/>
              </a:defRPr>
            </a:pPr>
            <a:r>
              <a:t>Efter att ha skapat alla 90 tester, behövde vi ett enkelt sätt att köra dem.</a:t>
            </a:r>
          </a:p>
          <a:p>
            <a:pPr>
              <a:defRPr sz="1200">
                <a:latin typeface="Courier New"/>
              </a:defRPr>
            </a:pPr>
          </a:p>
          <a:p>
            <a:pPr>
              <a:defRPr sz="1200">
                <a:latin typeface="Courier New"/>
              </a:defRPr>
            </a:pPr>
            <a:r>
              <a:t>**run_tests.py - Unified Test Runner**</a:t>
            </a:r>
          </a:p>
          <a:p>
            <a:pPr>
              <a:defRPr sz="1200">
                <a:latin typeface="Courier New"/>
              </a:defRPr>
            </a:pP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Kör alla tester</a:t>
            </a:r>
          </a:p>
        </p:txBody>
      </p:sp>
      <p:sp>
        <p:nvSpPr>
          <p:cNvPr id="3" name="Content Placeholder 2"/>
          <p:cNvSpPr>
            <a:spLocks noGrp="1"/>
          </p:cNvSpPr>
          <p:nvPr>
            <p:ph idx="1"/>
          </p:nvPr>
        </p:nvSpPr>
        <p:spPr/>
        <p:txBody>
          <a:bodyPr wrap="square"/>
          <a:lstStyle/>
          <a:p>
            <a:r>
              <a:t>python run_tests.py</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Verbose output</a:t>
            </a:r>
          </a:p>
        </p:txBody>
      </p:sp>
      <p:sp>
        <p:nvSpPr>
          <p:cNvPr id="3" name="Content Placeholder 2"/>
          <p:cNvSpPr>
            <a:spLocks noGrp="1"/>
          </p:cNvSpPr>
          <p:nvPr>
            <p:ph idx="1"/>
          </p:nvPr>
        </p:nvSpPr>
        <p:spPr/>
        <p:txBody>
          <a:bodyPr wrap="square"/>
          <a:lstStyle/>
          <a:p>
            <a:r>
              <a:t>python run_tests.py -v</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Med coverage rapport</a:t>
            </a:r>
          </a:p>
        </p:txBody>
      </p:sp>
      <p:sp>
        <p:nvSpPr>
          <p:cNvPr id="3" name="Content Placeholder 2"/>
          <p:cNvSpPr>
            <a:spLocks noGrp="1"/>
          </p:cNvSpPr>
          <p:nvPr>
            <p:ph idx="1"/>
          </p:nvPr>
        </p:nvSpPr>
        <p:spPr/>
        <p:txBody>
          <a:bodyPr wrap="square"/>
          <a:lstStyle/>
          <a:p>
            <a:r>
              <a:t>python run_tests.py --coverage</a:t>
            </a:r>
          </a:p>
          <a:p>
            <a:pPr lvl="1"/>
            <a:r>
              <a:t>======================================================================</a:t>
            </a:r>
          </a:p>
          <a:p>
            <a:pPr lvl="1"/>
            <a:r>
              <a:t>🧪 Running Demo-G6 Test Suite</a:t>
            </a:r>
          </a:p>
          <a:p>
            <a:pPr lvl="1"/>
            <a:r>
              <a:t>======================================================================</a:t>
            </a:r>
          </a:p>
          <a:p>
            <a:pPr lvl="1"/>
            <a:r>
              <a:t>tests/test_smoke.py ....                                         [  4%]</a:t>
            </a:r>
          </a:p>
          <a:p>
            <a:pPr lvl="1"/>
            <a:r>
              <a:t>tests/test_routes.py ..........                                  [ 15%]</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**Output:**</a:t>
            </a:r>
          </a:p>
          <a:p>
            <a:pPr>
              <a:defRPr sz="1200">
                <a:latin typeface="Courier New"/>
              </a:defRPr>
            </a:p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TESTING.md - Komplett Dokumentation**</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a:p>
            <a:pPr>
              <a:defRPr sz="1200">
                <a:latin typeface="Courier New"/>
              </a:defRPr>
            </a:pPr>
            <a:r>
              <a:t>Vi skapade även en omfattande guide för att hjälpa utvecklare förstå och köra testerna:</a:t>
            </a:r>
          </a:p>
          <a:p>
            <a:pPr>
              <a:defRPr sz="1200">
                <a:latin typeface="Courier New"/>
              </a:defRPr>
            </a:pPr>
          </a:p>
          <a:p>
            <a:pPr>
              <a:defRPr sz="1200">
                <a:latin typeface="Courier New"/>
              </a:defRPr>
            </a:pPr>
            <a:r>
              <a:t>**Innehåll:**</a:t>
            </a:r>
          </a:p>
          <a:p>
            <a:pPr>
              <a:defRPr sz="1200">
                <a:latin typeface="Courier New"/>
              </a:defRPr>
            </a:pPr>
            <a:r>
              <a:t>- ✅ Test suite översikt (tabell med alla 8 filer)</a:t>
            </a:r>
          </a:p>
          <a:p>
            <a:pPr>
              <a:defRPr sz="1200">
                <a:latin typeface="Courier New"/>
              </a:defRPr>
            </a:pPr>
            <a:r>
              <a:t>- ✅ Flera sätt att köra tester (run_tests.py, pytest direkt, coverage)</a:t>
            </a:r>
          </a:p>
          <a:p>
            <a:pPr>
              <a:defRPr sz="1200">
                <a:latin typeface="Courier New"/>
              </a:defRPr>
            </a:pPr>
            <a:r>
              <a:t>- ✅ Fixtures förklaring (app, client, authenticated_client, runner)</a:t>
            </a:r>
          </a:p>
          <a:p>
            <a:pPr>
              <a:defRPr sz="1200">
                <a:latin typeface="Courier New"/>
              </a:defRPr>
            </a:pPr>
            <a:r>
              <a:t>- ✅ Hur man kör specifika tester (fil, klass, individuell)</a:t>
            </a:r>
          </a:p>
          <a:p>
            <a:pPr>
              <a:defRPr sz="1200">
                <a:latin typeface="Courier New"/>
              </a:defRPr>
            </a:pPr>
            <a:r>
              <a:t>- ✅ CI/CD integration notes</a:t>
            </a:r>
          </a:p>
          <a:p>
            <a:pPr>
              <a:defRPr sz="1200">
                <a:latin typeface="Courier New"/>
              </a:defRPr>
            </a:pPr>
            <a:r>
              <a:t>- ✅ Felsökningsguide (vanliga problem och lösningar)</a:t>
            </a:r>
          </a:p>
          <a:p>
            <a:pPr>
              <a:defRPr sz="1200">
                <a:latin typeface="Courier New"/>
              </a:defRPr>
            </a:pPr>
            <a:r>
              <a:t>- ✅ Best practices (TDD, coverage mål &gt;80%)</a:t>
            </a:r>
          </a:p>
          <a:p>
            <a:pPr>
              <a:defRPr sz="1200">
                <a:latin typeface="Courier New"/>
              </a:defRPr>
            </a:pPr>
          </a:p>
          <a:p>
            <a:pPr>
              <a:defRPr sz="1200">
                <a:latin typeface="Courier New"/>
              </a:defRPr>
            </a:pPr>
            <a:r>
              <a:t>**Exempel från TESTING.md:**</a:t>
            </a:r>
          </a:p>
          <a:p>
            <a:pPr>
              <a:defRPr sz="1200">
                <a:latin typeface="Courier New"/>
              </a:defRPr>
            </a:p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Kör Specifika Tester</a:t>
            </a:r>
          </a:p>
        </p:txBody>
      </p:sp>
      <p:sp>
        <p:nvSpPr>
          <p:cNvPr id="3" name="Content Placeholder 2"/>
          <p:cNvSpPr>
            <a:spLocks noGrp="1"/>
          </p:cNvSpPr>
          <p:nvPr>
            <p:ph idx="1"/>
          </p:nvPr>
        </p:nvSpPr>
        <p:spPr/>
        <p:txBody>
          <a:bodyPr wrap="square"/>
          <a:lstStyle/>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Endast en test-fil</a:t>
            </a:r>
          </a:p>
        </p:txBody>
      </p:sp>
      <p:sp>
        <p:nvSpPr>
          <p:cNvPr id="3" name="Content Placeholder 2"/>
          <p:cNvSpPr>
            <a:spLocks noGrp="1"/>
          </p:cNvSpPr>
          <p:nvPr>
            <p:ph idx="1"/>
          </p:nvPr>
        </p:nvSpPr>
        <p:spPr/>
        <p:txBody>
          <a:bodyPr wrap="square"/>
          <a:lstStyle/>
          <a:p>
            <a:r>
              <a:t>python -m pytest tests/test_smoke.py -v</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Endast en test-klass</a:t>
            </a:r>
          </a:p>
        </p:txBody>
      </p:sp>
      <p:sp>
        <p:nvSpPr>
          <p:cNvPr id="3" name="Content Placeholder 2"/>
          <p:cNvSpPr>
            <a:spLocks noGrp="1"/>
          </p:cNvSpPr>
          <p:nvPr>
            <p:ph idx="1"/>
          </p:nvPr>
        </p:nvSpPr>
        <p:spPr/>
        <p:txBody>
          <a:bodyPr wrap="square"/>
          <a:lstStyle/>
          <a:p>
            <a:r>
              <a:t>python -m pytest tests/test_auth_service.py::TestCreateUser -v</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Endast ett specifikt test</a:t>
            </a:r>
          </a:p>
        </p:txBody>
      </p:sp>
      <p:sp>
        <p:nvSpPr>
          <p:cNvPr id="3" name="Content Placeholder 2"/>
          <p:cNvSpPr>
            <a:spLocks noGrp="1"/>
          </p:cNvSpPr>
          <p:nvPr>
            <p:ph idx="1"/>
          </p:nvPr>
        </p:nvSpPr>
        <p:spPr/>
        <p:txBody>
          <a:bodyPr wrap="square"/>
          <a:lstStyle/>
          <a:p>
            <a:r>
              <a:t>python -m pytest tests/test_smoke.py::test_app_exists -v</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The Dopamine Hit**</a:t>
            </a:r>
          </a:p>
        </p:txBody>
      </p:sp>
      <p:sp>
        <p:nvSpPr>
          <p:cNvPr id="3" name="Content Placeholder 2"/>
          <p:cNvSpPr>
            <a:spLocks noGrp="1"/>
          </p:cNvSpPr>
          <p:nvPr>
            <p:ph idx="1"/>
          </p:nvPr>
        </p:nvSpPr>
        <p:spPr/>
        <p:txBody>
          <a:bodyPr wrap="square"/>
          <a:lstStyle/>
          <a:p>
            <a:r>
              <a:t>Week 1 (4-6 Feb):   CICD + Flask Setup + Authentication</a:t>
            </a:r>
          </a:p>
          <a:p>
            <a:pPr lvl="1"/>
            <a:r>
              <a:t>Week 2 (10 Feb):    Azure Deployment + OIDC + Production Launch</a:t>
            </a:r>
          </a:p>
          <a:p>
            <a:pPr lvl="1"/>
            <a:r>
              <a:t>Week 3 (11 Feb):    Komplett Test Suite (90 tests)</a:t>
            </a:r>
          </a:p>
          <a:p>
            <a:pPr lvl="1"/>
            <a:r>
              <a:t>$ python run_tests.py</a:t>
            </a:r>
          </a:p>
          <a:p>
            <a:pPr lvl="1"/>
            <a:r>
              <a:t>======================================================================</a:t>
            </a:r>
          </a:p>
          <a:p>
            <a:pPr lvl="1"/>
            <a:r>
              <a:t>🧪 Running News Flash Test Suite</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r>
              <a:t>#### *Känslan av trygghet och kontroll*</a:t>
            </a:r>
          </a:p>
          <a:p>
            <a:pPr>
              <a:defRPr sz="1200">
                <a:latin typeface="Courier New"/>
              </a:defRPr>
            </a:pPr>
          </a:p>
          <a:p>
            <a:pPr>
              <a:defRPr sz="1200">
                <a:latin typeface="Courier New"/>
              </a:defRPr>
            </a:pPr>
            <a:r>
              <a:t>**Från kaos till kontroll:**</a:t>
            </a:r>
          </a:p>
          <a:p>
            <a:pPr>
              <a:defRPr sz="1200">
                <a:latin typeface="Courier New"/>
              </a:defRPr>
            </a:pPr>
          </a:p>
          <a:p>
            <a:pPr>
              <a:defRPr sz="1200">
                <a:latin typeface="Courier New"/>
              </a:defRPr>
            </a:pPr>
            <a:r>
              <a:t>När projektet började hade vi:</a:t>
            </a:r>
          </a:p>
          <a:p>
            <a:pPr>
              <a:defRPr sz="1200">
                <a:latin typeface="Courier New"/>
              </a:defRPr>
            </a:pPr>
            <a:r>
              <a:t>- ❌ Ingen automatisk testning</a:t>
            </a:r>
          </a:p>
          <a:p>
            <a:pPr>
              <a:defRPr sz="1200">
                <a:latin typeface="Courier New"/>
              </a:defRPr>
            </a:pPr>
            <a:r>
              <a:t>- ❌ Manuell verifiering i webbläsare</a:t>
            </a:r>
          </a:p>
          <a:p>
            <a:pPr>
              <a:defRPr sz="1200">
                <a:latin typeface="Courier New"/>
              </a:defRPr>
            </a:pPr>
            <a:r>
              <a:t>- ❌ Rädsla för att ändra kod ("tänk om något går sönder?")</a:t>
            </a:r>
          </a:p>
          <a:p>
            <a:pPr>
              <a:defRPr sz="1200">
                <a:latin typeface="Courier New"/>
              </a:defRPr>
            </a:pPr>
            <a:r>
              <a:t>- ❌ Osäkerhet inför deployment</a:t>
            </a:r>
          </a:p>
          <a:p>
            <a:pPr>
              <a:defRPr sz="1200">
                <a:latin typeface="Courier New"/>
              </a:defRPr>
            </a:pPr>
          </a:p>
          <a:p>
            <a:pPr>
              <a:defRPr sz="1200">
                <a:latin typeface="Courier New"/>
              </a:defRPr>
            </a:pPr>
            <a:r>
              <a:t>**Efter testing-sprinten:**</a:t>
            </a:r>
          </a:p>
          <a:p>
            <a:pPr>
              <a:defRPr sz="1200">
                <a:latin typeface="Courier New"/>
              </a:defRPr>
            </a:pPr>
          </a:p>
          <a:p>
            <a:pPr>
              <a:defRPr sz="1200">
                <a:latin typeface="Courier New"/>
              </a:defRPr>
            </a:pPr>
            <a:r>
              <a:t>Nu har vi:</a:t>
            </a:r>
          </a:p>
          <a:p>
            <a:pPr>
              <a:defRPr sz="1200">
                <a:latin typeface="Courier New"/>
              </a:defRPr>
            </a:pPr>
            <a:r>
              <a:t>- ✅ **90 automatiserade tester**</a:t>
            </a:r>
          </a:p>
          <a:p>
            <a:pPr>
              <a:defRPr sz="1200">
                <a:latin typeface="Courier New"/>
              </a:defRPr>
            </a:pPr>
            <a:r>
              <a:t>- ✅ **11 sekunder** från kod-ändring till verifiering</a:t>
            </a:r>
          </a:p>
          <a:p>
            <a:pPr>
              <a:defRPr sz="1200">
                <a:latin typeface="Courier New"/>
              </a:defRPr>
            </a:pPr>
            <a:r>
              <a:t>- ✅ **Mod att refaktorisera** utan rädsla</a:t>
            </a:r>
          </a:p>
          <a:p>
            <a:pPr>
              <a:defRPr sz="1200">
                <a:latin typeface="Courier New"/>
              </a:defRPr>
            </a:pPr>
            <a:r>
              <a:t>- ✅ **Förtroende för deployment** (testerna bevisar att det fungerar)</a:t>
            </a:r>
          </a:p>
          <a:p>
            <a:pPr>
              <a:defRPr sz="1200">
                <a:latin typeface="Courier New"/>
              </a:defRPr>
            </a:pPr>
          </a:p>
          <a:p>
            <a:pPr>
              <a:defRPr sz="1200">
                <a:latin typeface="Courier New"/>
              </a:defRPr>
            </a:pPr>
            <a:r>
              <a:t>**Resan vi har gjort:**</a:t>
            </a:r>
          </a:p>
          <a:p>
            <a:pPr>
              <a:defRPr sz="1200">
                <a:latin typeface="Courier New"/>
              </a:defRPr>
            </a:p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Test Metrics &amp; Statistics**</a:t>
            </a:r>
          </a:p>
        </p:txBody>
      </p:sp>
      <p:sp>
        <p:nvSpPr>
          <p:cNvPr id="3" name="Content Placeholder 2"/>
          <p:cNvSpPr>
            <a:spLocks noGrp="1"/>
          </p:cNvSpPr>
          <p:nvPr>
            <p:ph idx="1"/>
          </p:nvPr>
        </p:nvSpPr>
        <p:spPr/>
        <p:txBody>
          <a:bodyPr wrap="square"/>
          <a:lstStyle/>
          <a:p>
            <a:r>
              <a:t>Total Tests: 90</a:t>
            </a:r>
          </a:p>
          <a:p>
            <a:pPr lvl="1"/>
            <a:r>
              <a:t>Execution Time: 11-12 seconds</a:t>
            </a:r>
          </a:p>
          <a:p>
            <a:pPr lvl="1"/>
            <a:r>
              <a:t>Average per Test: ~130ms</a:t>
            </a:r>
          </a:p>
          <a:p>
            <a:pPr lvl="1"/>
            <a:r>
              <a:t>Test Files: 8</a:t>
            </a:r>
          </a:p>
          <a:p>
            <a:pPr lvl="1"/>
            <a:r>
              <a:t>Test Classes: 24</a:t>
            </a:r>
          </a:p>
          <a:p>
            <a:pPr lvl="1"/>
            <a:r>
              <a:t>Database: In-memory SQLite (no disk I/O)</a:t>
            </a:r>
          </a:p>
        </p:txBody>
      </p:sp>
      <p:sp>
        <p:nvSpPr>
          <p:cNvPr id="4" name="TextBox 3"/>
          <p:cNvSpPr txBox="1"/>
          <p:nvPr/>
        </p:nvSpPr>
        <p:spPr>
          <a:xfrm>
            <a:off x="457200" y="4114800"/>
            <a:ext cx="8229600" cy="1371600"/>
          </a:xfrm>
          <a:prstGeom prst="rect">
            <a:avLst/>
          </a:prstGeom>
          <a:noFill/>
        </p:spPr>
        <p:txBody>
          <a:bodyPr wrap="none">
            <a:spAutoFit/>
          </a:bodyPr>
          <a:lstStyle/>
          <a:p>
            <a:pPr>
              <a:defRPr sz="1200">
                <a:latin typeface="Courier New"/>
              </a:defRPr>
            </a:pPr>
            <a:r>
              <a:t>[CODE PLACEHOLDER]</a:t>
            </a:r>
          </a:p>
          <a:p>
            <a:pPr>
              <a:defRPr sz="1200">
                <a:latin typeface="Courier New"/>
              </a:defRPr>
            </a:pPr>
          </a:p>
          <a:p>
            <a:pPr>
              <a:defRPr sz="1200">
                <a:latin typeface="Courier New"/>
              </a:defRPr>
            </a:pPr>
            <a:r>
              <a:t>**Den ultimata tryggheten:**</a:t>
            </a:r>
          </a:p>
          <a:p>
            <a:pPr>
              <a:defRPr sz="1200">
                <a:latin typeface="Courier New"/>
              </a:defRPr>
            </a:pPr>
          </a:p>
          <a:p>
            <a:pPr>
              <a:defRPr sz="1200">
                <a:latin typeface="Courier New"/>
              </a:defRPr>
            </a:pPr>
            <a:r>
              <a:t>**Du vet att det fungerar** - inte för att du *hoppas* det, utan för att du har **bevisat** det.</a:t>
            </a:r>
          </a:p>
          <a:p>
            <a:pPr>
              <a:defRPr sz="1200">
                <a:latin typeface="Courier New"/>
              </a:defRPr>
            </a:pPr>
          </a:p>
          <a:p>
            <a:pPr>
              <a:defRPr sz="1200">
                <a:latin typeface="Courier New"/>
              </a:defRPr>
            </a:pPr>
            <a:r>
              <a:t>- **90 tester**</a:t>
            </a:r>
          </a:p>
          <a:p>
            <a:pPr>
              <a:defRPr sz="1200">
                <a:latin typeface="Courier New"/>
              </a:defRPr>
            </a:pPr>
            <a:r>
              <a:t>- **11 sekunder**</a:t>
            </a:r>
          </a:p>
          <a:p>
            <a:pPr>
              <a:defRPr sz="1200">
                <a:latin typeface="Courier New"/>
              </a:defRPr>
            </a:pPr>
            <a:r>
              <a:t>- **100% pass rate**</a:t>
            </a:r>
          </a:p>
          <a:p>
            <a:pPr>
              <a:defRPr sz="1200">
                <a:latin typeface="Courier New"/>
              </a:defRPr>
            </a:pPr>
            <a:r>
              <a:t>- **Trygghet**</a:t>
            </a:r>
          </a:p>
          <a:p>
            <a:pPr>
              <a:defRPr sz="1200">
                <a:latin typeface="Courier New"/>
              </a:defRPr>
            </a:pPr>
          </a:p>
          <a:p>
            <a:pPr>
              <a:defRPr sz="1200">
                <a:latin typeface="Courier New"/>
              </a:defRPr>
            </a:pPr>
            <a:r>
              <a:t>---</a:t>
            </a:r>
          </a:p>
          <a:p>
            <a:pPr>
              <a:defRPr sz="1200">
                <a:latin typeface="Courier New"/>
              </a:defRPr>
            </a:pPr>
          </a:p>
          <a:p>
            <a:pPr>
              <a:defRPr sz="1200">
                <a:latin typeface="Courier New"/>
              </a:defRPr>
            </a:pPr>
          </a:p>
          <a:p>
            <a:pPr>
              <a:defRPr sz="1200">
                <a:latin typeface="Courier New"/>
              </a:defRPr>
            </a:pPr>
            <a:r>
              <a:t>**Test Execution Performance:**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Testing Lärdomar**</a:t>
            </a:r>
          </a:p>
        </p:txBody>
      </p:sp>
      <p:sp>
        <p:nvSpPr>
          <p:cNvPr id="3" name="Content Placeholder 2"/>
          <p:cNvSpPr>
            <a:spLocks noGrp="1"/>
          </p:cNvSpPr>
          <p:nvPr>
            <p:ph idx="1"/>
          </p:nvPr>
        </p:nvSpPr>
        <p:spPr/>
        <p:txBody>
          <a:bodyPr wrap="square"/>
          <a:lstStyle/>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SLUTSATS</a:t>
            </a:r>
          </a:p>
        </p:txBody>
      </p:sp>
      <p:sp>
        <p:nvSpPr>
          <p:cNvPr id="3" name="Content Placeholder 2"/>
          <p:cNvSpPr>
            <a:spLocks noGrp="1"/>
          </p:cNvSpPr>
          <p:nvPr>
            <p:ph idx="1"/>
          </p:nvPr>
        </p:nvSpPr>
        <p:spPr/>
        <p:txBody>
          <a:bodyPr wrap="square"/>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